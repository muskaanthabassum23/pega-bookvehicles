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9" r:id="rId4"/>
  </p:sldMasterIdLst>
  <p:notesMasterIdLst>
    <p:notesMasterId r:id="rId37"/>
  </p:notesMasterIdLst>
  <p:handoutMasterIdLst>
    <p:handoutMasterId r:id="rId38"/>
  </p:handoutMasterIdLst>
  <p:sldIdLst>
    <p:sldId id="256" r:id="rId5"/>
    <p:sldId id="258" r:id="rId6"/>
    <p:sldId id="264" r:id="rId7"/>
    <p:sldId id="265" r:id="rId8"/>
    <p:sldId id="269" r:id="rId9"/>
    <p:sldId id="270" r:id="rId10"/>
    <p:sldId id="271" r:id="rId11"/>
    <p:sldId id="272" r:id="rId12"/>
    <p:sldId id="266" r:id="rId13"/>
    <p:sldId id="267" r:id="rId14"/>
    <p:sldId id="259" r:id="rId15"/>
    <p:sldId id="268" r:id="rId16"/>
    <p:sldId id="287" r:id="rId17"/>
    <p:sldId id="276" r:id="rId18"/>
    <p:sldId id="275" r:id="rId19"/>
    <p:sldId id="277" r:id="rId20"/>
    <p:sldId id="280" r:id="rId21"/>
    <p:sldId id="281" r:id="rId22"/>
    <p:sldId id="278" r:id="rId23"/>
    <p:sldId id="279" r:id="rId24"/>
    <p:sldId id="283" r:id="rId25"/>
    <p:sldId id="282" r:id="rId26"/>
    <p:sldId id="273" r:id="rId27"/>
    <p:sldId id="274" r:id="rId28"/>
    <p:sldId id="285" r:id="rId29"/>
    <p:sldId id="288" r:id="rId30"/>
    <p:sldId id="289" r:id="rId31"/>
    <p:sldId id="290" r:id="rId32"/>
    <p:sldId id="291" r:id="rId33"/>
    <p:sldId id="292" r:id="rId34"/>
    <p:sldId id="284" r:id="rId35"/>
    <p:sldId id="28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9EA9"/>
    <a:srgbClr val="569DA8"/>
    <a:srgbClr val="549A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95" d="100"/>
          <a:sy n="95" d="100"/>
        </p:scale>
        <p:origin x="67" y="30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9FC193-7A05-4631-B681-B56EAB543D3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857B86A-DEC1-407C-A1BB-5BF9ACCBCA6A}">
      <dgm:prSet phldrT="[Text]" custT="1"/>
      <dgm:spPr>
        <a:solidFill>
          <a:srgbClr val="5A9EA9"/>
        </a:solidFill>
        <a:ln>
          <a:solidFill>
            <a:schemeClr val="accent2">
              <a:lumMod val="50000"/>
            </a:schemeClr>
          </a:solidFill>
        </a:ln>
      </dgm:spPr>
      <dgm:t>
        <a:bodyPr/>
        <a:lstStyle/>
        <a:p>
          <a:r>
            <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rPr>
            <a:t>Hardware</a:t>
          </a:r>
          <a:r>
            <a:rPr lang="en-US" sz="2800" b="1" baseline="0" dirty="0">
              <a:solidFill>
                <a:schemeClr val="tx1"/>
              </a:solidFill>
              <a:latin typeface="Tahoma" panose="020B0604030504040204" pitchFamily="34" charset="0"/>
              <a:ea typeface="Tahoma" panose="020B0604030504040204" pitchFamily="34" charset="0"/>
              <a:cs typeface="Tahoma" panose="020B0604030504040204" pitchFamily="34" charset="0"/>
            </a:rPr>
            <a:t> Requirements</a:t>
          </a:r>
          <a:endPar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endParaRPr>
        </a:p>
      </dgm:t>
    </dgm:pt>
    <dgm:pt modelId="{8CA7BF9B-8199-4683-AD57-CB0086659013}" type="parTrans" cxnId="{B12F0503-977A-4B5D-8CB7-420B041FF863}">
      <dgm:prSet/>
      <dgm:spPr/>
      <dgm:t>
        <a:bodyPr/>
        <a:lstStyle/>
        <a:p>
          <a:endParaRPr lang="en-US"/>
        </a:p>
      </dgm:t>
    </dgm:pt>
    <dgm:pt modelId="{F087F24E-A7D7-4DCE-B2A7-9B941289621A}" type="sibTrans" cxnId="{B12F0503-977A-4B5D-8CB7-420B041FF863}">
      <dgm:prSet/>
      <dgm:spPr/>
      <dgm:t>
        <a:bodyPr/>
        <a:lstStyle/>
        <a:p>
          <a:endParaRPr lang="en-US"/>
        </a:p>
      </dgm:t>
    </dgm:pt>
    <dgm:pt modelId="{4C8BFA56-3F75-4CAD-90A3-2F214D699322}">
      <dgm:prSet phldrT="[Text]" custT="1"/>
      <dgm:spPr/>
      <dgm:t>
        <a:bodyPr/>
        <a:lstStyle/>
        <a:p>
          <a:pPr>
            <a:buFont typeface="Wingdings" panose="05000000000000000000" pitchFamily="2" charset="2"/>
            <a:buChar char=""/>
          </a:pPr>
          <a:r>
            <a:rPr lang="en-IN" sz="1800" b="0" dirty="0">
              <a:solidFill>
                <a:schemeClr val="dk1"/>
              </a:solidFill>
              <a:latin typeface="Times New Roman"/>
              <a:ea typeface="Times New Roman"/>
              <a:cs typeface="Times New Roman"/>
              <a:sym typeface="Times New Roman"/>
            </a:rPr>
            <a:t>Microsoft Server-Enabled Computers</a:t>
          </a:r>
          <a:endParaRPr lang="en-US" sz="1800" b="0" dirty="0">
            <a:latin typeface="Tahoma" panose="020B0604030504040204" pitchFamily="34" charset="0"/>
            <a:ea typeface="Tahoma" panose="020B0604030504040204" pitchFamily="34" charset="0"/>
            <a:cs typeface="Tahoma" panose="020B0604030504040204" pitchFamily="34" charset="0"/>
          </a:endParaRPr>
        </a:p>
      </dgm:t>
    </dgm:pt>
    <dgm:pt modelId="{9A6E3B20-A734-4412-84CF-0134D93D4B28}" type="parTrans" cxnId="{4CD5FCDD-1F8A-43A3-BD77-CBE3B3864C41}">
      <dgm:prSet/>
      <dgm:spPr/>
      <dgm:t>
        <a:bodyPr/>
        <a:lstStyle/>
        <a:p>
          <a:endParaRPr lang="en-US"/>
        </a:p>
      </dgm:t>
    </dgm:pt>
    <dgm:pt modelId="{7B50916F-B8BA-427F-B9F0-A301E54D7FB3}" type="sibTrans" cxnId="{4CD5FCDD-1F8A-43A3-BD77-CBE3B3864C41}">
      <dgm:prSet/>
      <dgm:spPr/>
      <dgm:t>
        <a:bodyPr/>
        <a:lstStyle/>
        <a:p>
          <a:endParaRPr lang="en-US"/>
        </a:p>
      </dgm:t>
    </dgm:pt>
    <dgm:pt modelId="{B6B39D33-D046-47BE-829F-7DE9C1355A93}">
      <dgm:prSet phldrT="[Text]" custT="1"/>
      <dgm:spPr/>
      <dgm:t>
        <a:bodyPr/>
        <a:lstStyle/>
        <a:p>
          <a:pPr>
            <a:buFont typeface="Wingdings" panose="05000000000000000000" pitchFamily="2" charset="2"/>
            <a:buChar char=""/>
          </a:pPr>
          <a:r>
            <a:rPr lang="en-IN" sz="1800" b="0" dirty="0">
              <a:solidFill>
                <a:schemeClr val="dk1"/>
              </a:solidFill>
              <a:latin typeface="Times New Roman"/>
              <a:ea typeface="Times New Roman"/>
              <a:cs typeface="Times New Roman"/>
              <a:sym typeface="Times New Roman"/>
            </a:rPr>
            <a:t>RAM: Minimum of 4GB or above </a:t>
          </a:r>
          <a:endParaRPr lang="en-US" sz="1800" b="0" dirty="0">
            <a:latin typeface="Tahoma" panose="020B0604030504040204" pitchFamily="34" charset="0"/>
            <a:ea typeface="Tahoma" panose="020B0604030504040204" pitchFamily="34" charset="0"/>
            <a:cs typeface="Tahoma" panose="020B0604030504040204" pitchFamily="34" charset="0"/>
          </a:endParaRPr>
        </a:p>
      </dgm:t>
    </dgm:pt>
    <dgm:pt modelId="{E15A7BCB-F8C9-469E-AAD5-364C09881B8A}" type="parTrans" cxnId="{877B3C1A-839E-4419-A916-B4E946768D4D}">
      <dgm:prSet/>
      <dgm:spPr/>
      <dgm:t>
        <a:bodyPr/>
        <a:lstStyle/>
        <a:p>
          <a:endParaRPr lang="en-US"/>
        </a:p>
      </dgm:t>
    </dgm:pt>
    <dgm:pt modelId="{AC756B1C-E9B8-4AF1-AAAF-F8402FE8B80B}" type="sibTrans" cxnId="{877B3C1A-839E-4419-A916-B4E946768D4D}">
      <dgm:prSet/>
      <dgm:spPr/>
      <dgm:t>
        <a:bodyPr/>
        <a:lstStyle/>
        <a:p>
          <a:endParaRPr lang="en-US"/>
        </a:p>
      </dgm:t>
    </dgm:pt>
    <dgm:pt modelId="{ABA77F75-8642-4931-8D7E-BE6C6DB9940D}">
      <dgm:prSet phldrT="[Text]" custT="1"/>
      <dgm:spPr>
        <a:solidFill>
          <a:srgbClr val="5A9EA9"/>
        </a:solidFill>
        <a:ln>
          <a:solidFill>
            <a:schemeClr val="bg2">
              <a:lumMod val="75000"/>
            </a:schemeClr>
          </a:solidFill>
        </a:ln>
      </dgm:spPr>
      <dgm:t>
        <a:bodyPr/>
        <a:lstStyle/>
        <a:p>
          <a:r>
            <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rPr>
            <a:t>Software Requirements</a:t>
          </a:r>
        </a:p>
      </dgm:t>
    </dgm:pt>
    <dgm:pt modelId="{FCF9AE1B-B22B-4F91-BFD8-DDBBF762F128}" type="parTrans" cxnId="{D959B3EA-A66A-4B40-901C-93ECD4985A93}">
      <dgm:prSet/>
      <dgm:spPr/>
      <dgm:t>
        <a:bodyPr/>
        <a:lstStyle/>
        <a:p>
          <a:endParaRPr lang="en-US"/>
        </a:p>
      </dgm:t>
    </dgm:pt>
    <dgm:pt modelId="{1A095211-ADB0-42CA-9F24-F1BC942872F3}" type="sibTrans" cxnId="{D959B3EA-A66A-4B40-901C-93ECD4985A93}">
      <dgm:prSet/>
      <dgm:spPr/>
      <dgm:t>
        <a:bodyPr/>
        <a:lstStyle/>
        <a:p>
          <a:endParaRPr lang="en-US"/>
        </a:p>
      </dgm:t>
    </dgm:pt>
    <dgm:pt modelId="{611C3B18-07F8-4A66-9682-97E24AEF6014}">
      <dgm:prSet phldrT="[Text]" custT="1"/>
      <dgm:spPr/>
      <dgm:t>
        <a:bodyPr/>
        <a:lstStyle/>
        <a:p>
          <a:pPr>
            <a:buFont typeface="Wingdings" panose="05000000000000000000" pitchFamily="2" charset="2"/>
            <a:buChar char=""/>
          </a:pPr>
          <a:r>
            <a:rPr lang="en-IN" sz="1800" b="0" dirty="0">
              <a:solidFill>
                <a:schemeClr val="dk1"/>
              </a:solidFill>
              <a:latin typeface="Times New Roman"/>
              <a:ea typeface="Times New Roman"/>
              <a:cs typeface="Times New Roman"/>
              <a:sym typeface="Times New Roman"/>
            </a:rPr>
            <a:t>Python 3.9 or Higher</a:t>
          </a:r>
          <a:endParaRPr lang="en-US" sz="1800" b="0" dirty="0">
            <a:latin typeface="Tahoma" panose="020B0604030504040204" pitchFamily="34" charset="0"/>
            <a:ea typeface="Tahoma" panose="020B0604030504040204" pitchFamily="34" charset="0"/>
            <a:cs typeface="Tahoma" panose="020B0604030504040204" pitchFamily="34" charset="0"/>
          </a:endParaRPr>
        </a:p>
      </dgm:t>
    </dgm:pt>
    <dgm:pt modelId="{5940BF2D-F08A-4150-9A86-173D9242DE8C}" type="parTrans" cxnId="{D5D61B4C-1312-427C-BDCC-013237D8A488}">
      <dgm:prSet/>
      <dgm:spPr/>
      <dgm:t>
        <a:bodyPr/>
        <a:lstStyle/>
        <a:p>
          <a:endParaRPr lang="en-US"/>
        </a:p>
      </dgm:t>
    </dgm:pt>
    <dgm:pt modelId="{477660C6-2B6D-4FB8-B9A3-D555E2082C2A}" type="sibTrans" cxnId="{D5D61B4C-1312-427C-BDCC-013237D8A488}">
      <dgm:prSet/>
      <dgm:spPr/>
      <dgm:t>
        <a:bodyPr/>
        <a:lstStyle/>
        <a:p>
          <a:endParaRPr lang="en-US"/>
        </a:p>
      </dgm:t>
    </dgm:pt>
    <dgm:pt modelId="{A84AA4D5-2E69-4308-B848-AF7C866DBA37}">
      <dgm:prSet phldrT="[Text]" custT="1"/>
      <dgm:spPr/>
      <dgm:t>
        <a:bodyPr/>
        <a:lstStyle/>
        <a:p>
          <a:pPr>
            <a:buFont typeface="Wingdings" panose="05000000000000000000" pitchFamily="2" charset="2"/>
            <a:buChar char=""/>
          </a:pPr>
          <a:r>
            <a:rPr lang="en-IN" sz="1800" b="0" dirty="0">
              <a:solidFill>
                <a:schemeClr val="dk1"/>
              </a:solidFill>
              <a:latin typeface="Times New Roman"/>
              <a:ea typeface="Times New Roman"/>
              <a:cs typeface="Times New Roman"/>
              <a:sym typeface="Times New Roman"/>
            </a:rPr>
            <a:t>Visual Studio Code</a:t>
          </a:r>
          <a:endParaRPr lang="en-US" sz="1800" b="0" dirty="0">
            <a:latin typeface="Tahoma" panose="020B0604030504040204" pitchFamily="34" charset="0"/>
            <a:ea typeface="Tahoma" panose="020B0604030504040204" pitchFamily="34" charset="0"/>
            <a:cs typeface="Tahoma" panose="020B0604030504040204" pitchFamily="34" charset="0"/>
          </a:endParaRPr>
        </a:p>
      </dgm:t>
    </dgm:pt>
    <dgm:pt modelId="{5AA60D0F-7C99-4FA0-90CA-9CD92DBEF3B7}" type="parTrans" cxnId="{E785B928-0A23-43BA-9D0D-4355335BED79}">
      <dgm:prSet/>
      <dgm:spPr/>
      <dgm:t>
        <a:bodyPr/>
        <a:lstStyle/>
        <a:p>
          <a:endParaRPr lang="en-US"/>
        </a:p>
      </dgm:t>
    </dgm:pt>
    <dgm:pt modelId="{195A1AC7-FDFE-47D0-B6D9-46AB9BA4736B}" type="sibTrans" cxnId="{E785B928-0A23-43BA-9D0D-4355335BED79}">
      <dgm:prSet/>
      <dgm:spPr/>
      <dgm:t>
        <a:bodyPr/>
        <a:lstStyle/>
        <a:p>
          <a:endParaRPr lang="en-US"/>
        </a:p>
      </dgm:t>
    </dgm:pt>
    <dgm:pt modelId="{26ECA639-0A60-4D96-A34B-F5ACC75DAA0C}">
      <dgm:prSet phldrT="[Text]"/>
      <dgm:spPr/>
      <dgm:t>
        <a:bodyPr/>
        <a:lstStyle/>
        <a:p>
          <a:pPr>
            <a:buFont typeface="Wingdings" panose="05000000000000000000" pitchFamily="2" charset="2"/>
            <a:buNone/>
          </a:pPr>
          <a:endParaRPr lang="en-US" sz="3800" dirty="0">
            <a:latin typeface="Tahoma" panose="020B0604030504040204" pitchFamily="34" charset="0"/>
            <a:ea typeface="Tahoma" panose="020B0604030504040204" pitchFamily="34" charset="0"/>
            <a:cs typeface="Tahoma" panose="020B0604030504040204" pitchFamily="34" charset="0"/>
          </a:endParaRPr>
        </a:p>
      </dgm:t>
    </dgm:pt>
    <dgm:pt modelId="{C4856BF6-9736-45B2-AF8E-AA325F8A725C}" type="parTrans" cxnId="{F270B5BD-559B-4711-AB5A-FD85478BE916}">
      <dgm:prSet/>
      <dgm:spPr/>
      <dgm:t>
        <a:bodyPr/>
        <a:lstStyle/>
        <a:p>
          <a:endParaRPr lang="en-US"/>
        </a:p>
      </dgm:t>
    </dgm:pt>
    <dgm:pt modelId="{DA3F4B23-A392-40BF-A1BD-D150AE345EB0}" type="sibTrans" cxnId="{F270B5BD-559B-4711-AB5A-FD85478BE916}">
      <dgm:prSet/>
      <dgm:spPr/>
      <dgm:t>
        <a:bodyPr/>
        <a:lstStyle/>
        <a:p>
          <a:endParaRPr lang="en-US"/>
        </a:p>
      </dgm:t>
    </dgm:pt>
    <dgm:pt modelId="{09088C55-D88B-4CAF-BC8E-2727DF589226}">
      <dgm:prSet phldrT="[Text]" custT="1"/>
      <dgm:spPr/>
      <dgm:t>
        <a:bodyPr/>
        <a:lstStyle/>
        <a:p>
          <a:pPr>
            <a:buFont typeface="Wingdings" panose="05000000000000000000" pitchFamily="2" charset="2"/>
            <a:buChar char=""/>
          </a:pPr>
          <a:r>
            <a:rPr lang="en-IN" sz="1800" b="0" dirty="0">
              <a:solidFill>
                <a:schemeClr val="dk1"/>
              </a:solidFill>
              <a:latin typeface="Times New Roman"/>
              <a:ea typeface="Times New Roman"/>
              <a:cs typeface="Times New Roman"/>
              <a:sym typeface="Times New Roman"/>
            </a:rPr>
            <a:t>Processor: Minimum frequency of 1.5GHz or above </a:t>
          </a:r>
          <a:endParaRPr lang="en-US" sz="1800" b="0" dirty="0">
            <a:latin typeface="Tahoma" panose="020B0604030504040204" pitchFamily="34" charset="0"/>
            <a:ea typeface="Tahoma" panose="020B0604030504040204" pitchFamily="34" charset="0"/>
            <a:cs typeface="Tahoma" panose="020B0604030504040204" pitchFamily="34" charset="0"/>
          </a:endParaRPr>
        </a:p>
      </dgm:t>
    </dgm:pt>
    <dgm:pt modelId="{420F83E8-30A6-4EE6-A15A-8B859489B729}" type="parTrans" cxnId="{F0004575-0EB2-49A0-BB9A-19917FAB4D52}">
      <dgm:prSet/>
      <dgm:spPr/>
      <dgm:t>
        <a:bodyPr/>
        <a:lstStyle/>
        <a:p>
          <a:endParaRPr lang="en-IN"/>
        </a:p>
      </dgm:t>
    </dgm:pt>
    <dgm:pt modelId="{03227D9C-BADE-4493-9273-320C9EEB2B3B}" type="sibTrans" cxnId="{F0004575-0EB2-49A0-BB9A-19917FAB4D52}">
      <dgm:prSet/>
      <dgm:spPr/>
      <dgm:t>
        <a:bodyPr/>
        <a:lstStyle/>
        <a:p>
          <a:endParaRPr lang="en-IN"/>
        </a:p>
      </dgm:t>
    </dgm:pt>
    <dgm:pt modelId="{DE3F77CF-6A8C-4783-A2CE-00E88C4199CB}" type="pres">
      <dgm:prSet presAssocID="{CF9FC193-7A05-4631-B681-B56EAB543D38}" presName="Name0" presStyleCnt="0">
        <dgm:presLayoutVars>
          <dgm:dir/>
          <dgm:animLvl val="lvl"/>
          <dgm:resizeHandles val="exact"/>
        </dgm:presLayoutVars>
      </dgm:prSet>
      <dgm:spPr/>
      <dgm:t>
        <a:bodyPr/>
        <a:lstStyle/>
        <a:p>
          <a:endParaRPr lang="en-IN"/>
        </a:p>
      </dgm:t>
    </dgm:pt>
    <dgm:pt modelId="{4E69B62D-7E76-4E06-9330-583771E53BDE}" type="pres">
      <dgm:prSet presAssocID="{6857B86A-DEC1-407C-A1BB-5BF9ACCBCA6A}" presName="composite" presStyleCnt="0"/>
      <dgm:spPr/>
    </dgm:pt>
    <dgm:pt modelId="{F0C1B2C7-0B23-4FE8-AB0F-5877B88532DB}" type="pres">
      <dgm:prSet presAssocID="{6857B86A-DEC1-407C-A1BB-5BF9ACCBCA6A}" presName="parTx" presStyleLbl="alignNode1" presStyleIdx="0" presStyleCnt="2" custScaleY="79005" custLinFactNeighborY="-1139">
        <dgm:presLayoutVars>
          <dgm:chMax val="0"/>
          <dgm:chPref val="0"/>
          <dgm:bulletEnabled val="1"/>
        </dgm:presLayoutVars>
      </dgm:prSet>
      <dgm:spPr/>
      <dgm:t>
        <a:bodyPr/>
        <a:lstStyle/>
        <a:p>
          <a:endParaRPr lang="en-IN"/>
        </a:p>
      </dgm:t>
    </dgm:pt>
    <dgm:pt modelId="{17CA1487-CDD9-4364-92F6-A11DBDAFE16C}" type="pres">
      <dgm:prSet presAssocID="{6857B86A-DEC1-407C-A1BB-5BF9ACCBCA6A}" presName="desTx" presStyleLbl="alignAccFollowNode1" presStyleIdx="0" presStyleCnt="2">
        <dgm:presLayoutVars>
          <dgm:bulletEnabled val="1"/>
        </dgm:presLayoutVars>
      </dgm:prSet>
      <dgm:spPr/>
      <dgm:t>
        <a:bodyPr/>
        <a:lstStyle/>
        <a:p>
          <a:endParaRPr lang="en-IN"/>
        </a:p>
      </dgm:t>
    </dgm:pt>
    <dgm:pt modelId="{3FA24A66-31D3-4A69-B628-8BE88627B97D}" type="pres">
      <dgm:prSet presAssocID="{F087F24E-A7D7-4DCE-B2A7-9B941289621A}" presName="space" presStyleCnt="0"/>
      <dgm:spPr/>
    </dgm:pt>
    <dgm:pt modelId="{3B158D6E-E3AA-49BB-988A-758B59ED8F3B}" type="pres">
      <dgm:prSet presAssocID="{ABA77F75-8642-4931-8D7E-BE6C6DB9940D}" presName="composite" presStyleCnt="0"/>
      <dgm:spPr/>
    </dgm:pt>
    <dgm:pt modelId="{055A5EAB-EAE0-4501-8649-31F112FF9AD5}" type="pres">
      <dgm:prSet presAssocID="{ABA77F75-8642-4931-8D7E-BE6C6DB9940D}" presName="parTx" presStyleLbl="alignNode1" presStyleIdx="1" presStyleCnt="2" custScaleY="80135">
        <dgm:presLayoutVars>
          <dgm:chMax val="0"/>
          <dgm:chPref val="0"/>
          <dgm:bulletEnabled val="1"/>
        </dgm:presLayoutVars>
      </dgm:prSet>
      <dgm:spPr/>
      <dgm:t>
        <a:bodyPr/>
        <a:lstStyle/>
        <a:p>
          <a:endParaRPr lang="en-IN"/>
        </a:p>
      </dgm:t>
    </dgm:pt>
    <dgm:pt modelId="{E4FD5043-5612-43C5-B6AE-CCD431549399}" type="pres">
      <dgm:prSet presAssocID="{ABA77F75-8642-4931-8D7E-BE6C6DB9940D}" presName="desTx" presStyleLbl="alignAccFollowNode1" presStyleIdx="1" presStyleCnt="2">
        <dgm:presLayoutVars>
          <dgm:bulletEnabled val="1"/>
        </dgm:presLayoutVars>
      </dgm:prSet>
      <dgm:spPr/>
      <dgm:t>
        <a:bodyPr/>
        <a:lstStyle/>
        <a:p>
          <a:endParaRPr lang="en-IN"/>
        </a:p>
      </dgm:t>
    </dgm:pt>
  </dgm:ptLst>
  <dgm:cxnLst>
    <dgm:cxn modelId="{D959B3EA-A66A-4B40-901C-93ECD4985A93}" srcId="{CF9FC193-7A05-4631-B681-B56EAB543D38}" destId="{ABA77F75-8642-4931-8D7E-BE6C6DB9940D}" srcOrd="1" destOrd="0" parTransId="{FCF9AE1B-B22B-4F91-BFD8-DDBBF762F128}" sibTransId="{1A095211-ADB0-42CA-9F24-F1BC942872F3}"/>
    <dgm:cxn modelId="{4CD5FCDD-1F8A-43A3-BD77-CBE3B3864C41}" srcId="{6857B86A-DEC1-407C-A1BB-5BF9ACCBCA6A}" destId="{4C8BFA56-3F75-4CAD-90A3-2F214D699322}" srcOrd="0" destOrd="0" parTransId="{9A6E3B20-A734-4412-84CF-0134D93D4B28}" sibTransId="{7B50916F-B8BA-427F-B9F0-A301E54D7FB3}"/>
    <dgm:cxn modelId="{4BF1EEA1-6E89-4F91-BAE8-11038685C515}" type="presOf" srcId="{4C8BFA56-3F75-4CAD-90A3-2F214D699322}" destId="{17CA1487-CDD9-4364-92F6-A11DBDAFE16C}" srcOrd="0" destOrd="0" presId="urn:microsoft.com/office/officeart/2005/8/layout/hList1"/>
    <dgm:cxn modelId="{877B3C1A-839E-4419-A916-B4E946768D4D}" srcId="{6857B86A-DEC1-407C-A1BB-5BF9ACCBCA6A}" destId="{B6B39D33-D046-47BE-829F-7DE9C1355A93}" srcOrd="1" destOrd="0" parTransId="{E15A7BCB-F8C9-469E-AAD5-364C09881B8A}" sibTransId="{AC756B1C-E9B8-4AF1-AAAF-F8402FE8B80B}"/>
    <dgm:cxn modelId="{1B0E7AC3-F65D-4742-ACD0-059A494487ED}" type="presOf" srcId="{09088C55-D88B-4CAF-BC8E-2727DF589226}" destId="{17CA1487-CDD9-4364-92F6-A11DBDAFE16C}" srcOrd="0" destOrd="2" presId="urn:microsoft.com/office/officeart/2005/8/layout/hList1"/>
    <dgm:cxn modelId="{B12F0503-977A-4B5D-8CB7-420B041FF863}" srcId="{CF9FC193-7A05-4631-B681-B56EAB543D38}" destId="{6857B86A-DEC1-407C-A1BB-5BF9ACCBCA6A}" srcOrd="0" destOrd="0" parTransId="{8CA7BF9B-8199-4683-AD57-CB0086659013}" sibTransId="{F087F24E-A7D7-4DCE-B2A7-9B941289621A}"/>
    <dgm:cxn modelId="{4E21C5D3-FA97-4E62-8CC9-01B68E76021E}" type="presOf" srcId="{ABA77F75-8642-4931-8D7E-BE6C6DB9940D}" destId="{055A5EAB-EAE0-4501-8649-31F112FF9AD5}" srcOrd="0" destOrd="0" presId="urn:microsoft.com/office/officeart/2005/8/layout/hList1"/>
    <dgm:cxn modelId="{F270B5BD-559B-4711-AB5A-FD85478BE916}" srcId="{ABA77F75-8642-4931-8D7E-BE6C6DB9940D}" destId="{26ECA639-0A60-4D96-A34B-F5ACC75DAA0C}" srcOrd="2" destOrd="0" parTransId="{C4856BF6-9736-45B2-AF8E-AA325F8A725C}" sibTransId="{DA3F4B23-A392-40BF-A1BD-D150AE345EB0}"/>
    <dgm:cxn modelId="{052CD662-FA04-4C38-BDDB-2453E96D014D}" type="presOf" srcId="{B6B39D33-D046-47BE-829F-7DE9C1355A93}" destId="{17CA1487-CDD9-4364-92F6-A11DBDAFE16C}" srcOrd="0" destOrd="1" presId="urn:microsoft.com/office/officeart/2005/8/layout/hList1"/>
    <dgm:cxn modelId="{5F12E8B9-000C-441B-B9E7-99ED7A20363B}" type="presOf" srcId="{6857B86A-DEC1-407C-A1BB-5BF9ACCBCA6A}" destId="{F0C1B2C7-0B23-4FE8-AB0F-5877B88532DB}" srcOrd="0" destOrd="0" presId="urn:microsoft.com/office/officeart/2005/8/layout/hList1"/>
    <dgm:cxn modelId="{E785B928-0A23-43BA-9D0D-4355335BED79}" srcId="{ABA77F75-8642-4931-8D7E-BE6C6DB9940D}" destId="{A84AA4D5-2E69-4308-B848-AF7C866DBA37}" srcOrd="1" destOrd="0" parTransId="{5AA60D0F-7C99-4FA0-90CA-9CD92DBEF3B7}" sibTransId="{195A1AC7-FDFE-47D0-B6D9-46AB9BA4736B}"/>
    <dgm:cxn modelId="{F791BDAD-3CBB-4228-AE46-C0CD336D9884}" type="presOf" srcId="{26ECA639-0A60-4D96-A34B-F5ACC75DAA0C}" destId="{E4FD5043-5612-43C5-B6AE-CCD431549399}" srcOrd="0" destOrd="2" presId="urn:microsoft.com/office/officeart/2005/8/layout/hList1"/>
    <dgm:cxn modelId="{D5D61B4C-1312-427C-BDCC-013237D8A488}" srcId="{ABA77F75-8642-4931-8D7E-BE6C6DB9940D}" destId="{611C3B18-07F8-4A66-9682-97E24AEF6014}" srcOrd="0" destOrd="0" parTransId="{5940BF2D-F08A-4150-9A86-173D9242DE8C}" sibTransId="{477660C6-2B6D-4FB8-B9A3-D555E2082C2A}"/>
    <dgm:cxn modelId="{F0004575-0EB2-49A0-BB9A-19917FAB4D52}" srcId="{6857B86A-DEC1-407C-A1BB-5BF9ACCBCA6A}" destId="{09088C55-D88B-4CAF-BC8E-2727DF589226}" srcOrd="2" destOrd="0" parTransId="{420F83E8-30A6-4EE6-A15A-8B859489B729}" sibTransId="{03227D9C-BADE-4493-9273-320C9EEB2B3B}"/>
    <dgm:cxn modelId="{58D887E9-04DA-4285-827F-DA6F12BD080E}" type="presOf" srcId="{611C3B18-07F8-4A66-9682-97E24AEF6014}" destId="{E4FD5043-5612-43C5-B6AE-CCD431549399}" srcOrd="0" destOrd="0" presId="urn:microsoft.com/office/officeart/2005/8/layout/hList1"/>
    <dgm:cxn modelId="{AAECF784-8F1D-4908-B93D-837F49AB8751}" type="presOf" srcId="{CF9FC193-7A05-4631-B681-B56EAB543D38}" destId="{DE3F77CF-6A8C-4783-A2CE-00E88C4199CB}" srcOrd="0" destOrd="0" presId="urn:microsoft.com/office/officeart/2005/8/layout/hList1"/>
    <dgm:cxn modelId="{15558403-8721-4CBE-97C1-25F56F385AD1}" type="presOf" srcId="{A84AA4D5-2E69-4308-B848-AF7C866DBA37}" destId="{E4FD5043-5612-43C5-B6AE-CCD431549399}" srcOrd="0" destOrd="1" presId="urn:microsoft.com/office/officeart/2005/8/layout/hList1"/>
    <dgm:cxn modelId="{1F4D79B9-0A03-4486-BB92-D4BA991ED70D}" type="presParOf" srcId="{DE3F77CF-6A8C-4783-A2CE-00E88C4199CB}" destId="{4E69B62D-7E76-4E06-9330-583771E53BDE}" srcOrd="0" destOrd="0" presId="urn:microsoft.com/office/officeart/2005/8/layout/hList1"/>
    <dgm:cxn modelId="{EFFE150E-7CB3-4A38-AC57-820444F8E7BA}" type="presParOf" srcId="{4E69B62D-7E76-4E06-9330-583771E53BDE}" destId="{F0C1B2C7-0B23-4FE8-AB0F-5877B88532DB}" srcOrd="0" destOrd="0" presId="urn:microsoft.com/office/officeart/2005/8/layout/hList1"/>
    <dgm:cxn modelId="{332F5817-5A55-4FC1-BA35-DBB23A0AD13C}" type="presParOf" srcId="{4E69B62D-7E76-4E06-9330-583771E53BDE}" destId="{17CA1487-CDD9-4364-92F6-A11DBDAFE16C}" srcOrd="1" destOrd="0" presId="urn:microsoft.com/office/officeart/2005/8/layout/hList1"/>
    <dgm:cxn modelId="{697E9D8E-F51C-4123-B62B-291815C4E7C1}" type="presParOf" srcId="{DE3F77CF-6A8C-4783-A2CE-00E88C4199CB}" destId="{3FA24A66-31D3-4A69-B628-8BE88627B97D}" srcOrd="1" destOrd="0" presId="urn:microsoft.com/office/officeart/2005/8/layout/hList1"/>
    <dgm:cxn modelId="{A09CCE6C-77C7-4B5A-B9DA-7E705F8B286E}" type="presParOf" srcId="{DE3F77CF-6A8C-4783-A2CE-00E88C4199CB}" destId="{3B158D6E-E3AA-49BB-988A-758B59ED8F3B}" srcOrd="2" destOrd="0" presId="urn:microsoft.com/office/officeart/2005/8/layout/hList1"/>
    <dgm:cxn modelId="{817F5423-5421-4F7E-968E-B3D3A624058B}" type="presParOf" srcId="{3B158D6E-E3AA-49BB-988A-758B59ED8F3B}" destId="{055A5EAB-EAE0-4501-8649-31F112FF9AD5}" srcOrd="0" destOrd="0" presId="urn:microsoft.com/office/officeart/2005/8/layout/hList1"/>
    <dgm:cxn modelId="{63113D3E-83F3-4A52-BAD6-246138FEC15C}" type="presParOf" srcId="{3B158D6E-E3AA-49BB-988A-758B59ED8F3B}" destId="{E4FD5043-5612-43C5-B6AE-CCD43154939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1B2C7-0B23-4FE8-AB0F-5877B88532DB}">
      <dsp:nvSpPr>
        <dsp:cNvPr id="0" name=""/>
        <dsp:cNvSpPr/>
      </dsp:nvSpPr>
      <dsp:spPr>
        <a:xfrm>
          <a:off x="42" y="263901"/>
          <a:ext cx="4061287" cy="1265349"/>
        </a:xfrm>
        <a:prstGeom prst="rect">
          <a:avLst/>
        </a:prstGeom>
        <a:solidFill>
          <a:srgbClr val="5A9EA9"/>
        </a:solidFill>
        <a:ln w="15875" cap="flat" cmpd="sng" algn="ctr">
          <a:solidFill>
            <a:schemeClr val="accent2">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latin typeface="Tahoma" panose="020B0604030504040204" pitchFamily="34" charset="0"/>
              <a:ea typeface="Tahoma" panose="020B0604030504040204" pitchFamily="34" charset="0"/>
              <a:cs typeface="Tahoma" panose="020B0604030504040204" pitchFamily="34" charset="0"/>
            </a:rPr>
            <a:t>Hardware</a:t>
          </a:r>
          <a:r>
            <a:rPr lang="en-US" sz="2800" b="1" kern="1200" baseline="0" dirty="0">
              <a:solidFill>
                <a:schemeClr val="tx1"/>
              </a:solidFill>
              <a:latin typeface="Tahoma" panose="020B0604030504040204" pitchFamily="34" charset="0"/>
              <a:ea typeface="Tahoma" panose="020B0604030504040204" pitchFamily="34" charset="0"/>
              <a:cs typeface="Tahoma" panose="020B0604030504040204" pitchFamily="34" charset="0"/>
            </a:rPr>
            <a:t> Requirements</a:t>
          </a:r>
          <a:endParaRPr lang="en-US" sz="2800" b="1"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dsp:txBody>
      <dsp:txXfrm>
        <a:off x="42" y="263901"/>
        <a:ext cx="4061287" cy="1265349"/>
      </dsp:txXfrm>
    </dsp:sp>
    <dsp:sp modelId="{17CA1487-CDD9-4364-92F6-A11DBDAFE16C}">
      <dsp:nvSpPr>
        <dsp:cNvPr id="0" name=""/>
        <dsp:cNvSpPr/>
      </dsp:nvSpPr>
      <dsp:spPr>
        <a:xfrm>
          <a:off x="42" y="1379365"/>
          <a:ext cx="4061287" cy="281088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Wingdings" panose="05000000000000000000" pitchFamily="2" charset="2"/>
            <a:buChar char="••"/>
          </a:pPr>
          <a:r>
            <a:rPr lang="en-IN" sz="1800" b="0" kern="1200" dirty="0">
              <a:solidFill>
                <a:schemeClr val="dk1"/>
              </a:solidFill>
              <a:latin typeface="Times New Roman"/>
              <a:ea typeface="Times New Roman"/>
              <a:cs typeface="Times New Roman"/>
              <a:sym typeface="Times New Roman"/>
            </a:rPr>
            <a:t>Microsoft Server-Enabled Computers</a:t>
          </a:r>
          <a:endParaRPr lang="en-US" sz="1800" b="0" kern="1200" dirty="0">
            <a:latin typeface="Tahoma" panose="020B0604030504040204" pitchFamily="34" charset="0"/>
            <a:ea typeface="Tahoma" panose="020B0604030504040204" pitchFamily="34" charset="0"/>
            <a:cs typeface="Tahoma" panose="020B0604030504040204" pitchFamily="34" charset="0"/>
          </a:endParaRPr>
        </a:p>
        <a:p>
          <a:pPr marL="171450" lvl="1" indent="-171450" algn="l" defTabSz="800100">
            <a:lnSpc>
              <a:spcPct val="90000"/>
            </a:lnSpc>
            <a:spcBef>
              <a:spcPct val="0"/>
            </a:spcBef>
            <a:spcAft>
              <a:spcPct val="15000"/>
            </a:spcAft>
            <a:buFont typeface="Wingdings" panose="05000000000000000000" pitchFamily="2" charset="2"/>
            <a:buChar char="••"/>
          </a:pPr>
          <a:r>
            <a:rPr lang="en-IN" sz="1800" b="0" kern="1200" dirty="0">
              <a:solidFill>
                <a:schemeClr val="dk1"/>
              </a:solidFill>
              <a:latin typeface="Times New Roman"/>
              <a:ea typeface="Times New Roman"/>
              <a:cs typeface="Times New Roman"/>
              <a:sym typeface="Times New Roman"/>
            </a:rPr>
            <a:t>RAM: Minimum of 4GB or above </a:t>
          </a:r>
          <a:endParaRPr lang="en-US" sz="1800" b="0" kern="1200" dirty="0">
            <a:latin typeface="Tahoma" panose="020B0604030504040204" pitchFamily="34" charset="0"/>
            <a:ea typeface="Tahoma" panose="020B0604030504040204" pitchFamily="34" charset="0"/>
            <a:cs typeface="Tahoma" panose="020B0604030504040204" pitchFamily="34" charset="0"/>
          </a:endParaRPr>
        </a:p>
        <a:p>
          <a:pPr marL="171450" lvl="1" indent="-171450" algn="l" defTabSz="800100">
            <a:lnSpc>
              <a:spcPct val="90000"/>
            </a:lnSpc>
            <a:spcBef>
              <a:spcPct val="0"/>
            </a:spcBef>
            <a:spcAft>
              <a:spcPct val="15000"/>
            </a:spcAft>
            <a:buFont typeface="Wingdings" panose="05000000000000000000" pitchFamily="2" charset="2"/>
            <a:buChar char="••"/>
          </a:pPr>
          <a:r>
            <a:rPr lang="en-IN" sz="1800" b="0" kern="1200" dirty="0">
              <a:solidFill>
                <a:schemeClr val="dk1"/>
              </a:solidFill>
              <a:latin typeface="Times New Roman"/>
              <a:ea typeface="Times New Roman"/>
              <a:cs typeface="Times New Roman"/>
              <a:sym typeface="Times New Roman"/>
            </a:rPr>
            <a:t>Processor: Minimum frequency of 1.5GHz or above </a:t>
          </a:r>
          <a:endParaRPr lang="en-US" sz="1800" b="0" kern="1200" dirty="0">
            <a:latin typeface="Tahoma" panose="020B0604030504040204" pitchFamily="34" charset="0"/>
            <a:ea typeface="Tahoma" panose="020B0604030504040204" pitchFamily="34" charset="0"/>
            <a:cs typeface="Tahoma" panose="020B0604030504040204" pitchFamily="34" charset="0"/>
          </a:endParaRPr>
        </a:p>
      </dsp:txBody>
      <dsp:txXfrm>
        <a:off x="42" y="1379365"/>
        <a:ext cx="4061287" cy="2810880"/>
      </dsp:txXfrm>
    </dsp:sp>
    <dsp:sp modelId="{055A5EAB-EAE0-4501-8649-31F112FF9AD5}">
      <dsp:nvSpPr>
        <dsp:cNvPr id="0" name=""/>
        <dsp:cNvSpPr/>
      </dsp:nvSpPr>
      <dsp:spPr>
        <a:xfrm>
          <a:off x="4629910" y="260529"/>
          <a:ext cx="4061287" cy="1301805"/>
        </a:xfrm>
        <a:prstGeom prst="rect">
          <a:avLst/>
        </a:prstGeom>
        <a:solidFill>
          <a:srgbClr val="5A9EA9"/>
        </a:solidFill>
        <a:ln w="15875" cap="flat" cmpd="sng" algn="ctr">
          <a:solidFill>
            <a:schemeClr val="bg2">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latin typeface="Tahoma" panose="020B0604030504040204" pitchFamily="34" charset="0"/>
              <a:ea typeface="Tahoma" panose="020B0604030504040204" pitchFamily="34" charset="0"/>
              <a:cs typeface="Tahoma" panose="020B0604030504040204" pitchFamily="34" charset="0"/>
            </a:rPr>
            <a:t>Software Requirements</a:t>
          </a:r>
        </a:p>
      </dsp:txBody>
      <dsp:txXfrm>
        <a:off x="4629910" y="260529"/>
        <a:ext cx="4061287" cy="1301805"/>
      </dsp:txXfrm>
    </dsp:sp>
    <dsp:sp modelId="{E4FD5043-5612-43C5-B6AE-CCD431549399}">
      <dsp:nvSpPr>
        <dsp:cNvPr id="0" name=""/>
        <dsp:cNvSpPr/>
      </dsp:nvSpPr>
      <dsp:spPr>
        <a:xfrm>
          <a:off x="4629910" y="1400979"/>
          <a:ext cx="4061287" cy="281088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Wingdings" panose="05000000000000000000" pitchFamily="2" charset="2"/>
            <a:buChar char="••"/>
          </a:pPr>
          <a:r>
            <a:rPr lang="en-IN" sz="1800" b="0" kern="1200" dirty="0">
              <a:solidFill>
                <a:schemeClr val="dk1"/>
              </a:solidFill>
              <a:latin typeface="Times New Roman"/>
              <a:ea typeface="Times New Roman"/>
              <a:cs typeface="Times New Roman"/>
              <a:sym typeface="Times New Roman"/>
            </a:rPr>
            <a:t>Python 3.9 or Higher</a:t>
          </a:r>
          <a:endParaRPr lang="en-US" sz="1800" b="0" kern="1200" dirty="0">
            <a:latin typeface="Tahoma" panose="020B0604030504040204" pitchFamily="34" charset="0"/>
            <a:ea typeface="Tahoma" panose="020B0604030504040204" pitchFamily="34" charset="0"/>
            <a:cs typeface="Tahoma" panose="020B0604030504040204" pitchFamily="34" charset="0"/>
          </a:endParaRPr>
        </a:p>
        <a:p>
          <a:pPr marL="171450" lvl="1" indent="-171450" algn="l" defTabSz="800100">
            <a:lnSpc>
              <a:spcPct val="90000"/>
            </a:lnSpc>
            <a:spcBef>
              <a:spcPct val="0"/>
            </a:spcBef>
            <a:spcAft>
              <a:spcPct val="15000"/>
            </a:spcAft>
            <a:buFont typeface="Wingdings" panose="05000000000000000000" pitchFamily="2" charset="2"/>
            <a:buChar char="••"/>
          </a:pPr>
          <a:r>
            <a:rPr lang="en-IN" sz="1800" b="0" kern="1200" dirty="0">
              <a:solidFill>
                <a:schemeClr val="dk1"/>
              </a:solidFill>
              <a:latin typeface="Times New Roman"/>
              <a:ea typeface="Times New Roman"/>
              <a:cs typeface="Times New Roman"/>
              <a:sym typeface="Times New Roman"/>
            </a:rPr>
            <a:t>Visual Studio Code</a:t>
          </a:r>
          <a:endParaRPr lang="en-US" sz="1800" b="0" kern="1200" dirty="0">
            <a:latin typeface="Tahoma" panose="020B0604030504040204" pitchFamily="34" charset="0"/>
            <a:ea typeface="Tahoma" panose="020B0604030504040204" pitchFamily="34" charset="0"/>
            <a:cs typeface="Tahoma" panose="020B0604030504040204" pitchFamily="34" charset="0"/>
          </a:endParaRPr>
        </a:p>
        <a:p>
          <a:pPr marL="285750" lvl="1" indent="-285750" algn="l" defTabSz="1689100">
            <a:lnSpc>
              <a:spcPct val="90000"/>
            </a:lnSpc>
            <a:spcBef>
              <a:spcPct val="0"/>
            </a:spcBef>
            <a:spcAft>
              <a:spcPct val="15000"/>
            </a:spcAft>
            <a:buFont typeface="Wingdings" panose="05000000000000000000" pitchFamily="2" charset="2"/>
            <a:buChar char="••"/>
          </a:pPr>
          <a:endParaRPr lang="en-US" sz="3800" kern="1200" dirty="0">
            <a:latin typeface="Tahoma" panose="020B0604030504040204" pitchFamily="34" charset="0"/>
            <a:ea typeface="Tahoma" panose="020B0604030504040204" pitchFamily="34" charset="0"/>
            <a:cs typeface="Tahoma" panose="020B0604030504040204" pitchFamily="34" charset="0"/>
          </a:endParaRPr>
        </a:p>
      </dsp:txBody>
      <dsp:txXfrm>
        <a:off x="4629910" y="1400979"/>
        <a:ext cx="4061287" cy="28108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6/4/2025</a:t>
            </a:fld>
            <a:endParaRPr lang="en-US" dirty="0"/>
          </a:p>
        </p:txBody>
      </p:sp>
      <p:sp>
        <p:nvSpPr>
          <p:cNvPr id="4" name="Footer Placeholder 3">
            <a:extLst>
              <a:ext uri="{FF2B5EF4-FFF2-40B4-BE49-F238E27FC236}">
                <a16:creationId xmlns:a16="http://schemas.microsoft.com/office/drawing/2014/main" xmlns=""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6/4/2025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6/4/2025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6/4/2025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68D3E5-C7A3-47DF-A374-46BF83A69904}"/>
              </a:ext>
            </a:extLst>
          </p:cNvPr>
          <p:cNvSpPr>
            <a:spLocks noGrp="1"/>
          </p:cNvSpPr>
          <p:nvPr>
            <p:ph type="ctrTitle"/>
          </p:nvPr>
        </p:nvSpPr>
        <p:spPr>
          <a:xfrm>
            <a:off x="2237174" y="3826319"/>
            <a:ext cx="9007875" cy="1859587"/>
          </a:xfrm>
        </p:spPr>
        <p:txBody>
          <a:bodyPr>
            <a:normAutofit fontScale="90000"/>
          </a:bodyPr>
          <a:lstStyle/>
          <a:p>
            <a:r>
              <a:rPr lang="en-US" sz="3600" dirty="0" err="1">
                <a:solidFill>
                  <a:schemeClr val="accent3">
                    <a:lumMod val="20000"/>
                    <a:lumOff val="80000"/>
                  </a:schemeClr>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ThiefGuard</a:t>
            </a:r>
            <a:r>
              <a:rPr lang="en-US" sz="3600" dirty="0">
                <a:solidFill>
                  <a:schemeClr val="accent3">
                    <a:lumMod val="20000"/>
                    <a:lumOff val="80000"/>
                  </a:schemeClr>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 Real-time Theft Detection System Integrating YOLO and </a:t>
            </a:r>
            <a:r>
              <a:rPr lang="en-US" sz="3600" dirty="0" err="1">
                <a:solidFill>
                  <a:schemeClr val="accent3">
                    <a:lumMod val="20000"/>
                    <a:lumOff val="80000"/>
                  </a:schemeClr>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GeminI</a:t>
            </a:r>
            <a:r>
              <a:rPr lang="en-US" sz="3600" dirty="0">
                <a:solidFill>
                  <a:schemeClr val="accent3">
                    <a:lumMod val="20000"/>
                    <a:lumOff val="80000"/>
                  </a:schemeClr>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 for Enhanced Accuracy and Rapid Response</a:t>
            </a:r>
            <a:br>
              <a:rPr lang="en-US" sz="3600" dirty="0">
                <a:solidFill>
                  <a:schemeClr val="accent3">
                    <a:lumMod val="20000"/>
                    <a:lumOff val="80000"/>
                  </a:schemeClr>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b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5400" dirty="0"/>
              <a:t/>
            </a:r>
            <a:br>
              <a:rPr lang="en-US" sz="5400" dirty="0"/>
            </a:br>
            <a:endParaRPr lang="en-US" sz="5400" dirty="0">
              <a:latin typeface="Rockwell" panose="02060603020205020403" pitchFamily="18" charset="0"/>
            </a:endParaRPr>
          </a:p>
        </p:txBody>
      </p:sp>
      <p:sp>
        <p:nvSpPr>
          <p:cNvPr id="3" name="Subtitle 2">
            <a:extLst>
              <a:ext uri="{FF2B5EF4-FFF2-40B4-BE49-F238E27FC236}">
                <a16:creationId xmlns:a16="http://schemas.microsoft.com/office/drawing/2014/main" xmlns="" id="{2E78725B-6E40-4D82-B375-7831D81C29EE}"/>
              </a:ext>
            </a:extLst>
          </p:cNvPr>
          <p:cNvSpPr>
            <a:spLocks noGrp="1"/>
          </p:cNvSpPr>
          <p:nvPr>
            <p:ph type="subTitle" idx="1"/>
          </p:nvPr>
        </p:nvSpPr>
        <p:spPr>
          <a:xfrm>
            <a:off x="775593" y="6256461"/>
            <a:ext cx="577049" cy="339647"/>
          </a:xfrm>
        </p:spPr>
        <p:txBody>
          <a:bodyPr>
            <a:norm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a:t>
            </a:r>
          </a:p>
        </p:txBody>
      </p:sp>
      <p:sp>
        <p:nvSpPr>
          <p:cNvPr id="4" name="TextBox 3"/>
          <p:cNvSpPr txBox="1"/>
          <p:nvPr/>
        </p:nvSpPr>
        <p:spPr>
          <a:xfrm>
            <a:off x="2237174" y="4847209"/>
            <a:ext cx="5521910" cy="1323439"/>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Project Guide                                     Project Coordinator                                      </a:t>
            </a:r>
          </a:p>
          <a:p>
            <a:r>
              <a:rPr lang="en-US" sz="1600" dirty="0" err="1">
                <a:latin typeface="Times New Roman" panose="02020603050405020304" pitchFamily="18" charset="0"/>
                <a:ea typeface="Arial" panose="020B0604020202020204" pitchFamily="34" charset="0"/>
                <a:cs typeface="Times New Roman" panose="02020603050405020304" pitchFamily="18" charset="0"/>
              </a:rPr>
              <a:t>Mr</a:t>
            </a:r>
            <a:r>
              <a:rPr lang="en-US" sz="1600" dirty="0">
                <a:latin typeface="Times New Roman" panose="02020603050405020304" pitchFamily="18" charset="0"/>
                <a:ea typeface="Arial" panose="020B0604020202020204" pitchFamily="34" charset="0"/>
                <a:cs typeface="Times New Roman" panose="02020603050405020304" pitchFamily="18" charset="0"/>
              </a:rPr>
              <a:t> </a:t>
            </a:r>
            <a:r>
              <a:rPr lang="en-US" sz="1600" dirty="0" err="1">
                <a:latin typeface="Times New Roman" panose="02020603050405020304" pitchFamily="18" charset="0"/>
                <a:ea typeface="Arial" panose="020B0604020202020204" pitchFamily="34" charset="0"/>
                <a:cs typeface="Times New Roman" panose="02020603050405020304" pitchFamily="18" charset="0"/>
              </a:rPr>
              <a:t>D.Ranjith</a:t>
            </a:r>
            <a:r>
              <a:rPr lang="en-US" sz="1600" dirty="0">
                <a:latin typeface="Times New Roman" panose="02020603050405020304" pitchFamily="18" charset="0"/>
                <a:ea typeface="Arial" panose="020B0604020202020204" pitchFamily="34"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Mrs.J.Bhargavi</a:t>
            </a:r>
            <a:endParaRPr lang="en-US" sz="1600" dirty="0">
              <a:latin typeface="Times New Roman" panose="02020603050405020304" pitchFamily="18" charset="0"/>
              <a:ea typeface="Arial" panose="020B0604020202020204" pitchFamily="34"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Assistant Professor                              </a:t>
            </a:r>
            <a:r>
              <a:rPr lang="en-IN" sz="1600" dirty="0">
                <a:latin typeface="Times New Roman" panose="02020603050405020304" pitchFamily="18" charset="0"/>
                <a:cs typeface="Times New Roman" panose="02020603050405020304" pitchFamily="18" charset="0"/>
              </a:rPr>
              <a:t>Assistant Professor</a:t>
            </a:r>
          </a:p>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a:t>
            </a:r>
            <a:endParaRPr lang="en-US" sz="1600" kern="1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4"/>
          <p:cNvSpPr txBox="1"/>
          <p:nvPr/>
        </p:nvSpPr>
        <p:spPr>
          <a:xfrm>
            <a:off x="7883370" y="4847209"/>
            <a:ext cx="3808521" cy="1077218"/>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Team Members</a:t>
            </a:r>
          </a:p>
          <a:p>
            <a:r>
              <a:rPr lang="en-US" sz="1600" dirty="0" err="1">
                <a:latin typeface="Times New Roman" panose="02020603050405020304" pitchFamily="18" charset="0"/>
                <a:cs typeface="Times New Roman" panose="02020603050405020304" pitchFamily="18" charset="0"/>
              </a:rPr>
              <a:t>Muskaan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Thabassum</a:t>
            </a:r>
            <a:r>
              <a:rPr lang="en-US" sz="1600" dirty="0">
                <a:latin typeface="Times New Roman" panose="02020603050405020304" pitchFamily="18" charset="0"/>
                <a:cs typeface="Times New Roman" panose="02020603050405020304" pitchFamily="18" charset="0"/>
              </a:rPr>
              <a:t>(21AG1A66A3)</a:t>
            </a:r>
          </a:p>
          <a:p>
            <a:r>
              <a:rPr lang="en-US" sz="1600" dirty="0" err="1">
                <a:latin typeface="Times New Roman" panose="02020603050405020304" pitchFamily="18" charset="0"/>
                <a:cs typeface="Times New Roman" panose="02020603050405020304" pitchFamily="18" charset="0"/>
              </a:rPr>
              <a:t>Dhanush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Kanraj</a:t>
            </a:r>
            <a:r>
              <a:rPr lang="en-US" sz="1600" dirty="0">
                <a:latin typeface="Times New Roman" panose="02020603050405020304" pitchFamily="18" charset="0"/>
                <a:cs typeface="Times New Roman" panose="02020603050405020304" pitchFamily="18" charset="0"/>
              </a:rPr>
              <a:t>(21AG1A6690)</a:t>
            </a:r>
          </a:p>
          <a:p>
            <a:r>
              <a:rPr lang="en-US" sz="1600" dirty="0" err="1">
                <a:latin typeface="Times New Roman" panose="02020603050405020304" pitchFamily="18" charset="0"/>
                <a:cs typeface="Times New Roman" panose="02020603050405020304" pitchFamily="18" charset="0"/>
              </a:rPr>
              <a:t>B.Bharath</a:t>
            </a:r>
            <a:r>
              <a:rPr lang="en-US" sz="1600" dirty="0">
                <a:latin typeface="Times New Roman" panose="02020603050405020304" pitchFamily="18" charset="0"/>
                <a:cs typeface="Times New Roman" panose="02020603050405020304" pitchFamily="18" charset="0"/>
              </a:rPr>
              <a:t> Kumar(21AG1A6675)</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3" y="618518"/>
            <a:ext cx="9905998" cy="801909"/>
          </a:xfrm>
        </p:spPr>
        <p:txBody>
          <a:bodyPr>
            <a:normAutofit/>
          </a:bodyPr>
          <a:lstStyle/>
          <a:p>
            <a:r>
              <a:rPr lang="en-US" sz="2800" dirty="0">
                <a:latin typeface="Rockwell" panose="02060603020205020403" pitchFamily="18" charset="0"/>
              </a:rPr>
              <a:t>List OF CONTENTS</a:t>
            </a: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1420427"/>
            <a:ext cx="9905999" cy="4580877"/>
          </a:xfrm>
        </p:spPr>
        <p:txBody>
          <a:bodyPr>
            <a:noAutofit/>
          </a:bodyPr>
          <a:lstStyle/>
          <a:p>
            <a:r>
              <a:rPr lang="en-IN" sz="2000" dirty="0">
                <a:solidFill>
                  <a:schemeClr val="accent3">
                    <a:lumMod val="20000"/>
                    <a:lumOff val="80000"/>
                  </a:schemeClr>
                </a:solidFill>
              </a:rPr>
              <a:t>Abstract</a:t>
            </a:r>
          </a:p>
          <a:p>
            <a:r>
              <a:rPr lang="en-IN" sz="2000" dirty="0">
                <a:solidFill>
                  <a:schemeClr val="accent3">
                    <a:lumMod val="20000"/>
                    <a:lumOff val="80000"/>
                  </a:schemeClr>
                </a:solidFill>
              </a:rPr>
              <a:t>Introduction</a:t>
            </a:r>
          </a:p>
          <a:p>
            <a:r>
              <a:rPr lang="en-IN" sz="2000" dirty="0">
                <a:solidFill>
                  <a:schemeClr val="accent3">
                    <a:lumMod val="20000"/>
                    <a:lumOff val="80000"/>
                  </a:schemeClr>
                </a:solidFill>
              </a:rPr>
              <a:t>Literature Survey</a:t>
            </a:r>
          </a:p>
          <a:p>
            <a:r>
              <a:rPr lang="en-IN" sz="2000" dirty="0">
                <a:solidFill>
                  <a:schemeClr val="accent3">
                    <a:lumMod val="20000"/>
                    <a:lumOff val="80000"/>
                  </a:schemeClr>
                </a:solidFill>
              </a:rPr>
              <a:t>Requirements</a:t>
            </a:r>
          </a:p>
          <a:p>
            <a:r>
              <a:rPr lang="en-US" sz="2000" dirty="0" smtClean="0">
                <a:solidFill>
                  <a:schemeClr val="accent3">
                    <a:lumMod val="20000"/>
                    <a:lumOff val="80000"/>
                  </a:schemeClr>
                </a:solidFill>
              </a:rPr>
              <a:t>Architecture</a:t>
            </a:r>
            <a:endParaRPr lang="en-IN" sz="2000" dirty="0">
              <a:solidFill>
                <a:schemeClr val="accent3">
                  <a:lumMod val="20000"/>
                  <a:lumOff val="80000"/>
                </a:schemeClr>
              </a:solidFill>
            </a:endParaRPr>
          </a:p>
          <a:p>
            <a:r>
              <a:rPr lang="en-IN" sz="2000" dirty="0">
                <a:solidFill>
                  <a:schemeClr val="accent3">
                    <a:lumMod val="20000"/>
                    <a:lumOff val="80000"/>
                  </a:schemeClr>
                </a:solidFill>
              </a:rPr>
              <a:t>UML Diagrams</a:t>
            </a:r>
          </a:p>
          <a:p>
            <a:r>
              <a:rPr lang="en-US" sz="2000" dirty="0" smtClean="0">
                <a:solidFill>
                  <a:schemeClr val="accent3">
                    <a:lumMod val="20000"/>
                    <a:lumOff val="80000"/>
                  </a:schemeClr>
                </a:solidFill>
              </a:rPr>
              <a:t>Implementation</a:t>
            </a:r>
          </a:p>
          <a:p>
            <a:r>
              <a:rPr lang="en-US" sz="2000" dirty="0" smtClean="0">
                <a:solidFill>
                  <a:schemeClr val="accent3">
                    <a:lumMod val="20000"/>
                    <a:lumOff val="80000"/>
                  </a:schemeClr>
                </a:solidFill>
              </a:rPr>
              <a:t>Testing</a:t>
            </a:r>
          </a:p>
          <a:p>
            <a:r>
              <a:rPr lang="en-US" sz="2000" dirty="0" smtClean="0">
                <a:solidFill>
                  <a:schemeClr val="accent3">
                    <a:lumMod val="20000"/>
                    <a:lumOff val="80000"/>
                  </a:schemeClr>
                </a:solidFill>
              </a:rPr>
              <a:t>Future Enhancements</a:t>
            </a:r>
            <a:endParaRPr lang="en-IN" sz="2000" dirty="0">
              <a:solidFill>
                <a:schemeClr val="accent3">
                  <a:lumMod val="20000"/>
                  <a:lumOff val="80000"/>
                </a:schemeClr>
              </a:solidFill>
            </a:endParaRPr>
          </a:p>
          <a:p>
            <a:r>
              <a:rPr lang="en-IN" sz="2000" dirty="0">
                <a:solidFill>
                  <a:schemeClr val="accent3">
                    <a:lumMod val="20000"/>
                    <a:lumOff val="80000"/>
                  </a:schemeClr>
                </a:solidFill>
              </a:rPr>
              <a:t>Conclusion</a:t>
            </a:r>
          </a:p>
          <a:p>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7217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085995"/>
          </a:xfrm>
        </p:spPr>
        <p:txBody>
          <a:bodyPr>
            <a:normAutofit/>
          </a:bodyPr>
          <a:lstStyle/>
          <a:p>
            <a:r>
              <a:rPr lang="en-US" sz="2800" dirty="0"/>
              <a:t>  </a:t>
            </a:r>
            <a:r>
              <a:rPr lang="en-US" sz="2800" dirty="0">
                <a:latin typeface="Ro\"/>
              </a:rPr>
              <a:t>ABSTRACT</a:t>
            </a:r>
            <a:endParaRPr lang="en-IN" sz="2800" dirty="0">
              <a:latin typeface="Ro\"/>
            </a:endParaRPr>
          </a:p>
        </p:txBody>
      </p:sp>
      <p:sp>
        <p:nvSpPr>
          <p:cNvPr id="3" name="Content Placeholder 2"/>
          <p:cNvSpPr>
            <a:spLocks noGrp="1"/>
          </p:cNvSpPr>
          <p:nvPr>
            <p:ph idx="1"/>
          </p:nvPr>
        </p:nvSpPr>
        <p:spPr>
          <a:xfrm>
            <a:off x="1141413" y="1615736"/>
            <a:ext cx="9905998" cy="4175465"/>
          </a:xfrm>
        </p:spPr>
        <p:txBody>
          <a:bodyPr>
            <a:normAutofit fontScale="92500" lnSpcReduction="20000"/>
          </a:bodyPr>
          <a:lstStyle/>
          <a:p>
            <a:pPr marL="127000" marR="5080" lvl="0" indent="0" algn="just">
              <a:lnSpc>
                <a:spcPct val="150000"/>
              </a:lnSpc>
              <a:spcBef>
                <a:spcPts val="1200"/>
              </a:spcBef>
              <a:buClr>
                <a:schemeClr val="dk1"/>
              </a:buClr>
              <a:buSzPts val="1600"/>
              <a:buNone/>
            </a:pPr>
            <a:r>
              <a:rPr lang="en-US" dirty="0" err="1">
                <a:solidFill>
                  <a:schemeClr val="accent3">
                    <a:lumMod val="20000"/>
                    <a:lumOff val="80000"/>
                  </a:schemeClr>
                </a:solidFill>
                <a:latin typeface="Times New Roman"/>
                <a:ea typeface="Times New Roman"/>
                <a:cs typeface="Times New Roman"/>
                <a:sym typeface="Times New Roman"/>
              </a:rPr>
              <a:t>ThiefGuard</a:t>
            </a:r>
            <a:r>
              <a:rPr lang="en-US" dirty="0">
                <a:solidFill>
                  <a:schemeClr val="accent3">
                    <a:lumMod val="20000"/>
                    <a:lumOff val="80000"/>
                  </a:schemeClr>
                </a:solidFill>
                <a:latin typeface="Times New Roman"/>
                <a:ea typeface="Times New Roman"/>
                <a:cs typeface="Times New Roman"/>
                <a:sym typeface="Times New Roman"/>
              </a:rPr>
              <a:t> is a real-time theft detection system designed to enhance the accuracy and reliability of surveillance systems. By utilizing the YOLO model for high-speed object detection and </a:t>
            </a:r>
            <a:r>
              <a:rPr lang="en-US" dirty="0" err="1">
                <a:solidFill>
                  <a:schemeClr val="accent3">
                    <a:lumMod val="20000"/>
                    <a:lumOff val="80000"/>
                  </a:schemeClr>
                </a:solidFill>
                <a:latin typeface="Times New Roman"/>
                <a:ea typeface="Times New Roman"/>
                <a:cs typeface="Times New Roman"/>
                <a:sym typeface="Times New Roman"/>
              </a:rPr>
              <a:t>GeminI</a:t>
            </a:r>
            <a:r>
              <a:rPr lang="en-US" dirty="0">
                <a:solidFill>
                  <a:schemeClr val="accent3">
                    <a:lumMod val="20000"/>
                    <a:lumOff val="80000"/>
                  </a:schemeClr>
                </a:solidFill>
                <a:latin typeface="Times New Roman"/>
                <a:ea typeface="Times New Roman"/>
                <a:cs typeface="Times New Roman"/>
                <a:sym typeface="Times New Roman"/>
              </a:rPr>
              <a:t> for secondary verification, the system minimizes false positives and ensures robust performance. The application supports both image and video inputs, making it adaptable to diverse surveillance scenarios. Integrated with an automated alert system, </a:t>
            </a:r>
            <a:r>
              <a:rPr lang="en-US" dirty="0" err="1">
                <a:solidFill>
                  <a:schemeClr val="accent3">
                    <a:lumMod val="20000"/>
                    <a:lumOff val="80000"/>
                  </a:schemeClr>
                </a:solidFill>
                <a:latin typeface="Times New Roman"/>
                <a:ea typeface="Times New Roman"/>
                <a:cs typeface="Times New Roman"/>
                <a:sym typeface="Times New Roman"/>
              </a:rPr>
              <a:t>ThiefGuard</a:t>
            </a:r>
            <a:r>
              <a:rPr lang="en-US" dirty="0">
                <a:solidFill>
                  <a:schemeClr val="accent3">
                    <a:lumMod val="20000"/>
                    <a:lumOff val="80000"/>
                  </a:schemeClr>
                </a:solidFill>
                <a:latin typeface="Times New Roman"/>
                <a:ea typeface="Times New Roman"/>
                <a:cs typeface="Times New Roman"/>
                <a:sym typeface="Times New Roman"/>
              </a:rPr>
              <a:t> sends email notifications with location details, enabling rapid response to theft incidents. Deployed as a </a:t>
            </a:r>
            <a:r>
              <a:rPr lang="en-US" dirty="0" err="1">
                <a:solidFill>
                  <a:schemeClr val="accent3">
                    <a:lumMod val="20000"/>
                    <a:lumOff val="80000"/>
                  </a:schemeClr>
                </a:solidFill>
                <a:latin typeface="Times New Roman"/>
                <a:ea typeface="Times New Roman"/>
                <a:cs typeface="Times New Roman"/>
                <a:sym typeface="Times New Roman"/>
              </a:rPr>
              <a:t>Streamlit</a:t>
            </a:r>
            <a:r>
              <a:rPr lang="en-US" dirty="0">
                <a:solidFill>
                  <a:schemeClr val="accent3">
                    <a:lumMod val="20000"/>
                    <a:lumOff val="80000"/>
                  </a:schemeClr>
                </a:solidFill>
                <a:latin typeface="Times New Roman"/>
                <a:ea typeface="Times New Roman"/>
                <a:cs typeface="Times New Roman"/>
                <a:sym typeface="Times New Roman"/>
              </a:rPr>
              <a:t>-based platform, it offers a scalable and user-friendly interface, combining advanced deep learning techniques to provide a cutting-edge solution for theft prevention.</a:t>
            </a:r>
          </a:p>
        </p:txBody>
      </p:sp>
    </p:spTree>
    <p:extLst>
      <p:ext uri="{BB962C8B-B14F-4D97-AF65-F5344CB8AC3E}">
        <p14:creationId xmlns:p14="http://schemas.microsoft.com/office/powerpoint/2010/main" val="1112844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17319"/>
          </a:xfrm>
        </p:spPr>
        <p:txBody>
          <a:bodyPr>
            <a:normAutofit/>
          </a:bodyPr>
          <a:lstStyle/>
          <a:p>
            <a:r>
              <a:rPr lang="en-US" sz="2800" dirty="0">
                <a:latin typeface="Rockwell" panose="02060603020205020403" pitchFamily="18" charset="0"/>
              </a:rPr>
              <a:t>INTRODUCTION</a:t>
            </a:r>
            <a:endParaRPr lang="en-IN" sz="2800" dirty="0">
              <a:latin typeface="Rockwell" panose="02060603020205020403" pitchFamily="18" charset="0"/>
            </a:endParaRPr>
          </a:p>
        </p:txBody>
      </p:sp>
      <p:sp>
        <p:nvSpPr>
          <p:cNvPr id="3" name="Content Placeholder 2"/>
          <p:cNvSpPr>
            <a:spLocks noGrp="1"/>
          </p:cNvSpPr>
          <p:nvPr>
            <p:ph idx="1"/>
          </p:nvPr>
        </p:nvSpPr>
        <p:spPr>
          <a:xfrm>
            <a:off x="1141412" y="1535837"/>
            <a:ext cx="9905999" cy="4255364"/>
          </a:xfrm>
        </p:spPr>
        <p:txBody>
          <a:bodyPr>
            <a:normAutofit/>
          </a:bodyPr>
          <a:lstStyle/>
          <a:p>
            <a:pPr marL="127000" indent="0" algn="just">
              <a:lnSpc>
                <a:spcPct val="150000"/>
              </a:lnSpc>
              <a:spcBef>
                <a:spcPts val="1200"/>
              </a:spcBef>
              <a:buClr>
                <a:schemeClr val="dk1"/>
              </a:buClr>
              <a:buSzPts val="1600"/>
              <a:buNone/>
            </a:pPr>
            <a:r>
              <a:rPr lang="en-US" dirty="0"/>
              <a:t>The Thief Guard Project is an intelligent theft detection system designed to enhance security using advanced technologies. It integrates YOLOv8 for real-time object detection, </a:t>
            </a:r>
            <a:r>
              <a:rPr lang="en-US" dirty="0" smtClean="0"/>
              <a:t> </a:t>
            </a:r>
            <a:r>
              <a:rPr lang="en-US" dirty="0" err="1" smtClean="0"/>
              <a:t>Streamlit</a:t>
            </a:r>
            <a:r>
              <a:rPr lang="en-US" dirty="0" smtClean="0"/>
              <a:t> </a:t>
            </a:r>
            <a:r>
              <a:rPr lang="en-US" dirty="0"/>
              <a:t>for an interactive interface, and Generative AI for smart decision-making. The system includes features like user authentication, a live dashboard, alert notifications, and location tracking, making it an efficient and user-friendly solution for monitoring and preventing theft.</a:t>
            </a:r>
          </a:p>
          <a:p>
            <a:pPr marL="127000" lvl="0" indent="0" algn="just">
              <a:lnSpc>
                <a:spcPct val="150000"/>
              </a:lnSpc>
              <a:spcBef>
                <a:spcPts val="1200"/>
              </a:spcBef>
              <a:buClr>
                <a:schemeClr val="dk1"/>
              </a:buClr>
              <a:buSzPts val="1600"/>
              <a:buNone/>
            </a:pPr>
            <a:endParaRPr lang="en-US" dirty="0">
              <a:solidFill>
                <a:schemeClr val="accent3">
                  <a:lumMod val="20000"/>
                  <a:lumOff val="80000"/>
                </a:schemeClr>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63026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3455" y="796071"/>
            <a:ext cx="9905998" cy="961707"/>
          </a:xfrm>
        </p:spPr>
        <p:txBody>
          <a:bodyPr>
            <a:normAutofit/>
          </a:bodyPr>
          <a:lstStyle/>
          <a:p>
            <a:r>
              <a:rPr lang="en-US" sz="3200" dirty="0">
                <a:latin typeface="Rockwell" panose="02060603020205020403" pitchFamily="18" charset="0"/>
              </a:rPr>
              <a:t>Existing system</a:t>
            </a:r>
            <a:endParaRPr lang="en-IN" sz="3200" dirty="0">
              <a:latin typeface="Rockwell" panose="02060603020205020403" pitchFamily="18" charset="0"/>
            </a:endParaRPr>
          </a:p>
        </p:txBody>
      </p:sp>
      <p:sp>
        <p:nvSpPr>
          <p:cNvPr id="3" name="Content Placeholder 2"/>
          <p:cNvSpPr>
            <a:spLocks noGrp="1"/>
          </p:cNvSpPr>
          <p:nvPr>
            <p:ph idx="1"/>
          </p:nvPr>
        </p:nvSpPr>
        <p:spPr>
          <a:xfrm>
            <a:off x="1185801" y="1961965"/>
            <a:ext cx="9905999" cy="4361896"/>
          </a:xfrm>
        </p:spPr>
        <p:txBody>
          <a:bodyPr/>
          <a:lstStyle/>
          <a:p>
            <a:pPr fontAlgn="base"/>
            <a:r>
              <a:rPr lang="en-US" dirty="0">
                <a:solidFill>
                  <a:schemeClr val="accent3">
                    <a:lumMod val="20000"/>
                    <a:lumOff val="80000"/>
                  </a:schemeClr>
                </a:solidFill>
              </a:rPr>
              <a:t>Traditional surveillance systems rely on manual monitoring of security footage, which is time-consuming and prone to human error.</a:t>
            </a:r>
          </a:p>
          <a:p>
            <a:pPr fontAlgn="base"/>
            <a:r>
              <a:rPr lang="en-US" dirty="0">
                <a:solidFill>
                  <a:schemeClr val="accent3">
                    <a:lumMod val="20000"/>
                    <a:lumOff val="80000"/>
                  </a:schemeClr>
                </a:solidFill>
              </a:rPr>
              <a:t>Automated systems often lack precision and adaptability to varying conditions, leading to high false positives and missed detections.</a:t>
            </a:r>
          </a:p>
          <a:p>
            <a:pPr fontAlgn="base"/>
            <a:r>
              <a:rPr lang="en-US" dirty="0">
                <a:solidFill>
                  <a:schemeClr val="accent3">
                    <a:lumMod val="20000"/>
                    <a:lumOff val="80000"/>
                  </a:schemeClr>
                </a:solidFill>
              </a:rPr>
              <a:t>Current AI models used in theft detection struggle with real-time performance and cannot effectively verify detections, reducing reliability.</a:t>
            </a:r>
          </a:p>
          <a:p>
            <a:endParaRPr lang="en-IN" dirty="0">
              <a:solidFill>
                <a:schemeClr val="accent3">
                  <a:lumMod val="20000"/>
                  <a:lumOff val="80000"/>
                </a:schemeClr>
              </a:solidFill>
            </a:endParaRPr>
          </a:p>
        </p:txBody>
      </p:sp>
    </p:spTree>
    <p:extLst>
      <p:ext uri="{BB962C8B-B14F-4D97-AF65-F5344CB8AC3E}">
        <p14:creationId xmlns:p14="http://schemas.microsoft.com/office/powerpoint/2010/main" val="2290004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latin typeface="Rockwell" panose="02060603020205020403" pitchFamily="18" charset="0"/>
              </a:rPr>
              <a:t>Disadvantages of Existing System</a:t>
            </a:r>
          </a:p>
        </p:txBody>
      </p:sp>
      <p:sp>
        <p:nvSpPr>
          <p:cNvPr id="3" name="Content Placeholder 2"/>
          <p:cNvSpPr>
            <a:spLocks noGrp="1"/>
          </p:cNvSpPr>
          <p:nvPr>
            <p:ph idx="1"/>
          </p:nvPr>
        </p:nvSpPr>
        <p:spPr/>
        <p:txBody>
          <a:bodyPr>
            <a:normAutofit fontScale="92500"/>
          </a:bodyPr>
          <a:lstStyle/>
          <a:p>
            <a:pPr fontAlgn="base"/>
            <a:r>
              <a:rPr lang="en-US" dirty="0">
                <a:solidFill>
                  <a:schemeClr val="accent3">
                    <a:lumMod val="20000"/>
                    <a:lumOff val="80000"/>
                  </a:schemeClr>
                </a:solidFill>
              </a:rPr>
              <a:t>Relies heavily on human monitoring, leading to oversight and inefficiencies.</a:t>
            </a:r>
          </a:p>
          <a:p>
            <a:pPr fontAlgn="base"/>
            <a:r>
              <a:rPr lang="en-US" dirty="0">
                <a:solidFill>
                  <a:schemeClr val="accent3">
                    <a:lumMod val="20000"/>
                    <a:lumOff val="80000"/>
                  </a:schemeClr>
                </a:solidFill>
              </a:rPr>
              <a:t>Automated systems lack adaptability to varying conditions, such as poor lighting.</a:t>
            </a:r>
          </a:p>
          <a:p>
            <a:pPr fontAlgn="base"/>
            <a:r>
              <a:rPr lang="en-US" dirty="0">
                <a:solidFill>
                  <a:schemeClr val="accent3">
                    <a:lumMod val="20000"/>
                    <a:lumOff val="80000"/>
                  </a:schemeClr>
                </a:solidFill>
              </a:rPr>
              <a:t>High rates of false positives create unnecessary interventions and alarm fatigue.</a:t>
            </a:r>
          </a:p>
          <a:p>
            <a:pPr fontAlgn="base"/>
            <a:r>
              <a:rPr lang="en-US" dirty="0">
                <a:solidFill>
                  <a:schemeClr val="accent3">
                    <a:lumMod val="20000"/>
                    <a:lumOff val="80000"/>
                  </a:schemeClr>
                </a:solidFill>
              </a:rPr>
              <a:t>Absence of real-time notifications delays immediate action during theft incidents.</a:t>
            </a:r>
          </a:p>
          <a:p>
            <a:pPr fontAlgn="base"/>
            <a:r>
              <a:rPr lang="en-US" dirty="0">
                <a:solidFill>
                  <a:schemeClr val="accent3">
                    <a:lumMod val="20000"/>
                    <a:lumOff val="80000"/>
                  </a:schemeClr>
                </a:solidFill>
              </a:rPr>
              <a:t>Most systems fail to integrate with modern alert and reporting mechanisms.</a:t>
            </a:r>
            <a:br>
              <a:rPr lang="en-US" dirty="0">
                <a:solidFill>
                  <a:schemeClr val="accent3">
                    <a:lumMod val="20000"/>
                    <a:lumOff val="80000"/>
                  </a:schemeClr>
                </a:solidFill>
              </a:rPr>
            </a:br>
            <a:endParaRPr lang="en-IN" dirty="0">
              <a:solidFill>
                <a:schemeClr val="accent3">
                  <a:lumMod val="20000"/>
                  <a:lumOff val="80000"/>
                </a:schemeClr>
              </a:solidFill>
            </a:endParaRPr>
          </a:p>
        </p:txBody>
      </p:sp>
    </p:spTree>
    <p:extLst>
      <p:ext uri="{BB962C8B-B14F-4D97-AF65-F5344CB8AC3E}">
        <p14:creationId xmlns:p14="http://schemas.microsoft.com/office/powerpoint/2010/main" val="109783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642" y="609640"/>
            <a:ext cx="9905998" cy="1478570"/>
          </a:xfrm>
        </p:spPr>
        <p:txBody>
          <a:bodyPr>
            <a:normAutofit/>
          </a:bodyPr>
          <a:lstStyle/>
          <a:p>
            <a:r>
              <a:rPr lang="en-IN" sz="3200" dirty="0">
                <a:latin typeface="Rockwell" panose="02060603020205020403" pitchFamily="18" charset="0"/>
              </a:rPr>
              <a:t>Proposed System</a:t>
            </a:r>
            <a:endParaRPr lang="en-IN" sz="3200" dirty="0">
              <a:effectLst/>
              <a:latin typeface="Rockwell" panose="02060603020205020403" pitchFamily="18" charset="0"/>
            </a:endParaRPr>
          </a:p>
        </p:txBody>
      </p:sp>
      <p:sp>
        <p:nvSpPr>
          <p:cNvPr id="3" name="Content Placeholder 2"/>
          <p:cNvSpPr>
            <a:spLocks noGrp="1"/>
          </p:cNvSpPr>
          <p:nvPr>
            <p:ph idx="1"/>
          </p:nvPr>
        </p:nvSpPr>
        <p:spPr>
          <a:xfrm>
            <a:off x="1230189" y="2088210"/>
            <a:ext cx="9905999" cy="3541714"/>
          </a:xfrm>
        </p:spPr>
        <p:txBody>
          <a:bodyPr>
            <a:normAutofit fontScale="92500" lnSpcReduction="10000"/>
          </a:bodyPr>
          <a:lstStyle/>
          <a:p>
            <a:pPr fontAlgn="base"/>
            <a:r>
              <a:rPr lang="en-US" dirty="0"/>
              <a:t>Implementation of the </a:t>
            </a:r>
            <a:r>
              <a:rPr lang="en-US" b="1" dirty="0"/>
              <a:t>YOLO model</a:t>
            </a:r>
            <a:r>
              <a:rPr lang="en-US" dirty="0"/>
              <a:t> for real-time theft detection, ensuring high-speed object recognition and initial classification.</a:t>
            </a:r>
          </a:p>
          <a:p>
            <a:pPr fontAlgn="base"/>
            <a:r>
              <a:rPr lang="en-US" dirty="0"/>
              <a:t>Integration of </a:t>
            </a:r>
            <a:r>
              <a:rPr lang="en-US" b="1" dirty="0" err="1"/>
              <a:t>GeminI</a:t>
            </a:r>
            <a:r>
              <a:rPr lang="en-US" dirty="0"/>
              <a:t> for secondary verification, reducing false positives and improving detection reliability.</a:t>
            </a:r>
          </a:p>
          <a:p>
            <a:pPr fontAlgn="base"/>
            <a:r>
              <a:rPr lang="en-US" dirty="0"/>
              <a:t>Supports both </a:t>
            </a:r>
            <a:r>
              <a:rPr lang="en-US" b="1" dirty="0"/>
              <a:t>image and video inputs</a:t>
            </a:r>
            <a:r>
              <a:rPr lang="en-US" dirty="0"/>
              <a:t>, making the system versatile for various surveillance scenarios.</a:t>
            </a:r>
          </a:p>
          <a:p>
            <a:pPr fontAlgn="base"/>
            <a:r>
              <a:rPr lang="en-US" dirty="0"/>
              <a:t>Deployment of the system as a </a:t>
            </a:r>
            <a:r>
              <a:rPr lang="en-US" b="1" dirty="0" err="1"/>
              <a:t>Streamlit</a:t>
            </a:r>
            <a:r>
              <a:rPr lang="en-US" b="1" dirty="0"/>
              <a:t>-based application</a:t>
            </a:r>
            <a:r>
              <a:rPr lang="en-US" dirty="0"/>
              <a:t> for seamless user interaction and accessibility.</a:t>
            </a:r>
          </a:p>
          <a:p>
            <a:pPr fontAlgn="base"/>
            <a:endParaRPr lang="en-US" dirty="0"/>
          </a:p>
        </p:txBody>
      </p:sp>
    </p:spTree>
    <p:extLst>
      <p:ext uri="{BB962C8B-B14F-4D97-AF65-F5344CB8AC3E}">
        <p14:creationId xmlns:p14="http://schemas.microsoft.com/office/powerpoint/2010/main" val="237219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Rockwell" panose="02060603020205020403" pitchFamily="18" charset="0"/>
              </a:rPr>
              <a:t>Advantages of Proposed System</a:t>
            </a:r>
            <a:endParaRPr lang="en-IN" dirty="0">
              <a:effectLst/>
              <a:latin typeface="Rockwell" panose="02060603020205020403" pitchFamily="18" charset="0"/>
            </a:endParaRPr>
          </a:p>
        </p:txBody>
      </p:sp>
      <p:sp>
        <p:nvSpPr>
          <p:cNvPr id="3" name="Content Placeholder 2"/>
          <p:cNvSpPr>
            <a:spLocks noGrp="1"/>
          </p:cNvSpPr>
          <p:nvPr>
            <p:ph idx="1"/>
          </p:nvPr>
        </p:nvSpPr>
        <p:spPr>
          <a:xfrm>
            <a:off x="1141413" y="1938768"/>
            <a:ext cx="9905999" cy="3541714"/>
          </a:xfrm>
        </p:spPr>
        <p:txBody>
          <a:bodyPr>
            <a:normAutofit fontScale="92500" lnSpcReduction="20000"/>
          </a:bodyPr>
          <a:lstStyle/>
          <a:p>
            <a:pPr fontAlgn="base"/>
            <a:r>
              <a:rPr lang="en-US" b="1" dirty="0"/>
              <a:t>High Accuracy with Dual-Layer Verification:</a:t>
            </a:r>
            <a:br>
              <a:rPr lang="en-US" b="1" dirty="0"/>
            </a:br>
            <a:r>
              <a:rPr lang="en-US" dirty="0"/>
              <a:t>Integrating YOLO for initial detection and </a:t>
            </a:r>
            <a:r>
              <a:rPr lang="en-US" dirty="0" err="1"/>
              <a:t>GeminI</a:t>
            </a:r>
            <a:r>
              <a:rPr lang="en-US" dirty="0"/>
              <a:t> for secondary verification reduces false positives and enhances reliability.</a:t>
            </a:r>
          </a:p>
          <a:p>
            <a:pPr fontAlgn="base"/>
            <a:r>
              <a:rPr lang="en-US" b="1" dirty="0"/>
              <a:t>Versatile Input Support:</a:t>
            </a:r>
            <a:br>
              <a:rPr lang="en-US" b="1" dirty="0"/>
            </a:br>
            <a:r>
              <a:rPr lang="en-US" dirty="0"/>
              <a:t>The system processes both image and video inputs, adapting to diverse surveillance setups and use cases.</a:t>
            </a:r>
            <a:endParaRPr lang="en-US" b="1" dirty="0"/>
          </a:p>
          <a:p>
            <a:pPr fontAlgn="base"/>
            <a:r>
              <a:rPr lang="en-US" b="1" dirty="0"/>
              <a:t>User-Friendly Interface:</a:t>
            </a:r>
            <a:br>
              <a:rPr lang="en-US" b="1" dirty="0"/>
            </a:br>
            <a:r>
              <a:rPr lang="en-US" dirty="0"/>
              <a:t>A </a:t>
            </a:r>
            <a:r>
              <a:rPr lang="en-US" dirty="0" err="1"/>
              <a:t>Streamlit</a:t>
            </a:r>
            <a:r>
              <a:rPr lang="en-US" dirty="0"/>
              <a:t>-based interface simplifies user interaction, making the system accessible and easy to deploy.</a:t>
            </a:r>
            <a:endParaRPr lang="en-US" b="1" dirty="0"/>
          </a:p>
        </p:txBody>
      </p:sp>
    </p:spTree>
    <p:extLst>
      <p:ext uri="{BB962C8B-B14F-4D97-AF65-F5344CB8AC3E}">
        <p14:creationId xmlns:p14="http://schemas.microsoft.com/office/powerpoint/2010/main" val="88246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75276"/>
          </a:xfrm>
        </p:spPr>
        <p:txBody>
          <a:bodyPr>
            <a:normAutofit/>
          </a:bodyPr>
          <a:lstStyle/>
          <a:p>
            <a:r>
              <a:rPr lang="en-IN" sz="3200" dirty="0">
                <a:latin typeface="Rockwell" panose="02060603020205020403" pitchFamily="18" charset="0"/>
              </a:rPr>
              <a:t>Literature Survey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3088347"/>
              </p:ext>
            </p:extLst>
          </p:nvPr>
        </p:nvGraphicFramePr>
        <p:xfrm>
          <a:off x="999370" y="1725704"/>
          <a:ext cx="9906000" cy="4524174"/>
        </p:xfrm>
        <a:graphic>
          <a:graphicData uri="http://schemas.openxmlformats.org/drawingml/2006/table">
            <a:tbl>
              <a:tblPr firstRow="1" bandRow="1">
                <a:tableStyleId>{5C22544A-7EE6-4342-B048-85BDC9FD1C3A}</a:tableStyleId>
              </a:tblPr>
              <a:tblGrid>
                <a:gridCol w="616366">
                  <a:extLst>
                    <a:ext uri="{9D8B030D-6E8A-4147-A177-3AD203B41FA5}">
                      <a16:colId xmlns:a16="http://schemas.microsoft.com/office/drawing/2014/main" xmlns="" val="20000"/>
                    </a:ext>
                  </a:extLst>
                </a:gridCol>
                <a:gridCol w="1793289">
                  <a:extLst>
                    <a:ext uri="{9D8B030D-6E8A-4147-A177-3AD203B41FA5}">
                      <a16:colId xmlns:a16="http://schemas.microsoft.com/office/drawing/2014/main" xmlns="" val="20001"/>
                    </a:ext>
                  </a:extLst>
                </a:gridCol>
                <a:gridCol w="2139519">
                  <a:extLst>
                    <a:ext uri="{9D8B030D-6E8A-4147-A177-3AD203B41FA5}">
                      <a16:colId xmlns:a16="http://schemas.microsoft.com/office/drawing/2014/main" xmlns="" val="20002"/>
                    </a:ext>
                  </a:extLst>
                </a:gridCol>
                <a:gridCol w="2450237">
                  <a:extLst>
                    <a:ext uri="{9D8B030D-6E8A-4147-A177-3AD203B41FA5}">
                      <a16:colId xmlns:a16="http://schemas.microsoft.com/office/drawing/2014/main" xmlns="" val="20003"/>
                    </a:ext>
                  </a:extLst>
                </a:gridCol>
                <a:gridCol w="2906589">
                  <a:extLst>
                    <a:ext uri="{9D8B030D-6E8A-4147-A177-3AD203B41FA5}">
                      <a16:colId xmlns:a16="http://schemas.microsoft.com/office/drawing/2014/main" xmlns="" val="20004"/>
                    </a:ext>
                  </a:extLst>
                </a:gridCol>
              </a:tblGrid>
              <a:tr h="537930">
                <a:tc>
                  <a:txBody>
                    <a:bodyPr/>
                    <a:lstStyle/>
                    <a:p>
                      <a:pPr marL="0" lvl="0" indent="0" algn="ctr" rtl="0">
                        <a:lnSpc>
                          <a:spcPct val="115000"/>
                        </a:lnSpc>
                        <a:spcBef>
                          <a:spcPts val="0"/>
                        </a:spcBef>
                        <a:spcAft>
                          <a:spcPts val="0"/>
                        </a:spcAft>
                        <a:buNone/>
                      </a:pPr>
                      <a:r>
                        <a:rPr lang="en-IN" sz="1400" b="1" dirty="0" err="1">
                          <a:solidFill>
                            <a:schemeClr val="tx1"/>
                          </a:solidFill>
                          <a:latin typeface="Times New Roman"/>
                          <a:ea typeface="Times New Roman"/>
                          <a:cs typeface="Times New Roman"/>
                          <a:sym typeface="Times New Roman"/>
                        </a:rPr>
                        <a:t>S.No</a:t>
                      </a:r>
                      <a:r>
                        <a:rPr lang="en-IN" sz="1400" b="1" dirty="0">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txBody>
                  <a:tcPr marL="63500" marR="63500" marT="63500" marB="63500">
                    <a:solidFill>
                      <a:srgbClr val="549AA6"/>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Author(s) &amp; Year</a:t>
                      </a:r>
                      <a:endParaRPr sz="1400" dirty="0">
                        <a:latin typeface="Times New Roman"/>
                        <a:ea typeface="Times New Roman"/>
                        <a:cs typeface="Times New Roman"/>
                        <a:sym typeface="Times New Roman"/>
                      </a:endParaRPr>
                    </a:p>
                  </a:txBody>
                  <a:tcPr marL="63500" marR="63500" marT="63500" marB="63500">
                    <a:solidFill>
                      <a:srgbClr val="549AA6"/>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Title</a:t>
                      </a:r>
                      <a:endParaRPr sz="1400" dirty="0">
                        <a:latin typeface="Times New Roman"/>
                        <a:ea typeface="Times New Roman"/>
                        <a:cs typeface="Times New Roman"/>
                        <a:sym typeface="Times New Roman"/>
                      </a:endParaRPr>
                    </a:p>
                  </a:txBody>
                  <a:tcPr marL="63500" marR="63500" marT="63500" marB="63500">
                    <a:solidFill>
                      <a:srgbClr val="549AA6"/>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Methodology</a:t>
                      </a:r>
                      <a:endParaRPr sz="1400" dirty="0">
                        <a:latin typeface="Times New Roman"/>
                        <a:ea typeface="Times New Roman"/>
                        <a:cs typeface="Times New Roman"/>
                        <a:sym typeface="Times New Roman"/>
                      </a:endParaRPr>
                    </a:p>
                  </a:txBody>
                  <a:tcPr marL="63500" marR="63500" marT="63500" marB="63500">
                    <a:solidFill>
                      <a:srgbClr val="549AA6"/>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Relevance to </a:t>
                      </a:r>
                      <a:r>
                        <a:rPr lang="en-IN" sz="1400" b="1" dirty="0" err="1">
                          <a:latin typeface="Times New Roman"/>
                          <a:ea typeface="Times New Roman"/>
                          <a:cs typeface="Times New Roman"/>
                          <a:sym typeface="Times New Roman"/>
                        </a:rPr>
                        <a:t>ThiefGuard</a:t>
                      </a:r>
                      <a:endParaRPr sz="1400" dirty="0">
                        <a:latin typeface="Times New Roman"/>
                        <a:ea typeface="Times New Roman"/>
                        <a:cs typeface="Times New Roman"/>
                        <a:sym typeface="Times New Roman"/>
                      </a:endParaRPr>
                    </a:p>
                  </a:txBody>
                  <a:tcPr marL="63500" marR="63500" marT="63500" marB="63500">
                    <a:solidFill>
                      <a:srgbClr val="549AA6"/>
                    </a:solidFill>
                  </a:tcPr>
                </a:tc>
                <a:extLst>
                  <a:ext uri="{0D108BD9-81ED-4DB2-BD59-A6C34878D82A}">
                    <a16:rowId xmlns:a16="http://schemas.microsoft.com/office/drawing/2014/main" xmlns="" val="10000"/>
                  </a:ext>
                </a:extLst>
              </a:tr>
              <a:tr h="996561">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1</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err="1">
                          <a:latin typeface="Times New Roman"/>
                          <a:ea typeface="Times New Roman"/>
                          <a:cs typeface="Times New Roman"/>
                          <a:sym typeface="Times New Roman"/>
                        </a:rPr>
                        <a:t>Chandrasekaran</a:t>
                      </a:r>
                      <a:r>
                        <a:rPr lang="en-IN" sz="1200" dirty="0">
                          <a:latin typeface="Times New Roman"/>
                          <a:ea typeface="Times New Roman"/>
                          <a:cs typeface="Times New Roman"/>
                          <a:sym typeface="Times New Roman"/>
                        </a:rPr>
                        <a:t>, K. P. (2023)</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YOLO ROBBERY: Video Surveillance Based Robbery Prediction and Alert System</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Utilizes YOLO V7 for real-time robbery prediction and alert generation.</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Directly aligns with real-time theft detection and YOLO-based implementation.</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1"/>
                  </a:ext>
                </a:extLst>
              </a:tr>
              <a:tr h="996561">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err="1">
                          <a:latin typeface="Times New Roman"/>
                          <a:ea typeface="Times New Roman"/>
                          <a:cs typeface="Times New Roman"/>
                          <a:sym typeface="Times New Roman"/>
                        </a:rPr>
                        <a:t>Khadse</a:t>
                      </a:r>
                      <a:r>
                        <a:rPr lang="en-IN" sz="1200" dirty="0">
                          <a:latin typeface="Times New Roman"/>
                          <a:ea typeface="Times New Roman"/>
                          <a:cs typeface="Times New Roman"/>
                          <a:sym typeface="Times New Roman"/>
                        </a:rPr>
                        <a:t>, S., et al. (2022)</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Machine Learning Based Theft Detection Using YOLO Object Detection</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Employs YOLO for theft detection, focusing on video inputs for security.</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Provides foundational insights into YOLO’s application for theft detection.</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2"/>
                  </a:ext>
                </a:extLst>
              </a:tr>
              <a:tr h="996561">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Malekar, M. (2021)</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Detecting Criminal Activities in Surveillance Videos Using Deep Learning</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Uses deep learning models to detect suspicious activities in videos.</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Offers techniques for identifying criminal </a:t>
                      </a:r>
                      <a:r>
                        <a:rPr lang="en-IN" sz="1200" dirty="0" err="1">
                          <a:latin typeface="Times New Roman"/>
                          <a:ea typeface="Times New Roman"/>
                          <a:cs typeface="Times New Roman"/>
                          <a:sym typeface="Times New Roman"/>
                        </a:rPr>
                        <a:t>behavior</a:t>
                      </a:r>
                      <a:r>
                        <a:rPr lang="en-IN" sz="1200" dirty="0">
                          <a:latin typeface="Times New Roman"/>
                          <a:ea typeface="Times New Roman"/>
                          <a:cs typeface="Times New Roman"/>
                          <a:sym typeface="Times New Roman"/>
                        </a:rPr>
                        <a:t>, relevant for enhancing verification.</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3"/>
                  </a:ext>
                </a:extLst>
              </a:tr>
              <a:tr h="996561">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Sakiba, C., et al. (2023)</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Real-Time Crime Detection Using Convolutional LSTM and YOLOv7</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Integrates YOLOv7 and LSTM for dynamic, real-time crime detection.</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Relevant for combining YOLO with advanced techniques to handle complex real-time scenarios.</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329126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73747" y="266331"/>
            <a:ext cx="207993" cy="130246"/>
          </a:xfrm>
        </p:spPr>
        <p:txBody>
          <a:bodyPr>
            <a:normAutofit fontScale="90000"/>
          </a:bodyPr>
          <a:lstStyle/>
          <a:p>
            <a:r>
              <a:rPr lang="en-US" sz="800" dirty="0"/>
              <a:t>.</a:t>
            </a:r>
            <a:endParaRPr lang="en-IN" sz="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6884859"/>
              </p:ext>
            </p:extLst>
          </p:nvPr>
        </p:nvGraphicFramePr>
        <p:xfrm>
          <a:off x="1008247" y="772355"/>
          <a:ext cx="10266393" cy="5113541"/>
        </p:xfrm>
        <a:graphic>
          <a:graphicData uri="http://schemas.openxmlformats.org/drawingml/2006/table">
            <a:tbl>
              <a:tblPr firstRow="1" bandRow="1">
                <a:tableStyleId>{5C22544A-7EE6-4342-B048-85BDC9FD1C3A}</a:tableStyleId>
              </a:tblPr>
              <a:tblGrid>
                <a:gridCol w="712395">
                  <a:extLst>
                    <a:ext uri="{9D8B030D-6E8A-4147-A177-3AD203B41FA5}">
                      <a16:colId xmlns:a16="http://schemas.microsoft.com/office/drawing/2014/main" xmlns="" val="20000"/>
                    </a:ext>
                  </a:extLst>
                </a:gridCol>
                <a:gridCol w="1821729">
                  <a:extLst>
                    <a:ext uri="{9D8B030D-6E8A-4147-A177-3AD203B41FA5}">
                      <a16:colId xmlns:a16="http://schemas.microsoft.com/office/drawing/2014/main" xmlns="" val="20001"/>
                    </a:ext>
                  </a:extLst>
                </a:gridCol>
                <a:gridCol w="2548580">
                  <a:extLst>
                    <a:ext uri="{9D8B030D-6E8A-4147-A177-3AD203B41FA5}">
                      <a16:colId xmlns:a16="http://schemas.microsoft.com/office/drawing/2014/main" xmlns="" val="20002"/>
                    </a:ext>
                  </a:extLst>
                </a:gridCol>
                <a:gridCol w="2760195">
                  <a:extLst>
                    <a:ext uri="{9D8B030D-6E8A-4147-A177-3AD203B41FA5}">
                      <a16:colId xmlns:a16="http://schemas.microsoft.com/office/drawing/2014/main" xmlns="" val="20003"/>
                    </a:ext>
                  </a:extLst>
                </a:gridCol>
                <a:gridCol w="2423494">
                  <a:extLst>
                    <a:ext uri="{9D8B030D-6E8A-4147-A177-3AD203B41FA5}">
                      <a16:colId xmlns:a16="http://schemas.microsoft.com/office/drawing/2014/main" xmlns="" val="20004"/>
                    </a:ext>
                  </a:extLst>
                </a:gridCol>
              </a:tblGrid>
              <a:tr h="797573">
                <a:tc>
                  <a:txBody>
                    <a:bodyPr/>
                    <a:lstStyle/>
                    <a:p>
                      <a:pPr marL="0" lvl="0" indent="0" algn="ctr" rtl="0">
                        <a:lnSpc>
                          <a:spcPct val="115000"/>
                        </a:lnSpc>
                        <a:spcBef>
                          <a:spcPts val="0"/>
                        </a:spcBef>
                        <a:spcAft>
                          <a:spcPts val="0"/>
                        </a:spcAft>
                        <a:buNone/>
                      </a:pPr>
                      <a:r>
                        <a:rPr lang="en-IN" sz="1400" b="1" dirty="0" err="1">
                          <a:latin typeface="Times New Roman"/>
                          <a:ea typeface="Times New Roman"/>
                          <a:cs typeface="Times New Roman"/>
                          <a:sym typeface="Times New Roman"/>
                        </a:rPr>
                        <a:t>S.No</a:t>
                      </a:r>
                      <a:r>
                        <a:rPr lang="en-IN" sz="1400" b="1" dirty="0">
                          <a:latin typeface="Times New Roman"/>
                          <a:ea typeface="Times New Roman"/>
                          <a:cs typeface="Times New Roman"/>
                          <a:sym typeface="Times New Roman"/>
                        </a:rPr>
                        <a:t>.</a:t>
                      </a:r>
                      <a:endParaRPr sz="1400" dirty="0">
                        <a:latin typeface="Times New Roman"/>
                        <a:ea typeface="Times New Roman"/>
                        <a:cs typeface="Times New Roman"/>
                        <a:sym typeface="Times New Roman"/>
                      </a:endParaRPr>
                    </a:p>
                  </a:txBody>
                  <a:tcPr marL="63500" marR="63500" marT="63500" marB="63500">
                    <a:solidFill>
                      <a:srgbClr val="569DA8"/>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Author(s) &amp; Year</a:t>
                      </a:r>
                      <a:endParaRPr sz="1400" dirty="0">
                        <a:latin typeface="Times New Roman"/>
                        <a:ea typeface="Times New Roman"/>
                        <a:cs typeface="Times New Roman"/>
                        <a:sym typeface="Times New Roman"/>
                      </a:endParaRPr>
                    </a:p>
                  </a:txBody>
                  <a:tcPr marL="63500" marR="63500" marT="63500" marB="63500">
                    <a:solidFill>
                      <a:srgbClr val="569DA8"/>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Title</a:t>
                      </a:r>
                      <a:endParaRPr sz="1400" dirty="0">
                        <a:latin typeface="Times New Roman"/>
                        <a:ea typeface="Times New Roman"/>
                        <a:cs typeface="Times New Roman"/>
                        <a:sym typeface="Times New Roman"/>
                      </a:endParaRPr>
                    </a:p>
                  </a:txBody>
                  <a:tcPr marL="63500" marR="63500" marT="63500" marB="63500">
                    <a:solidFill>
                      <a:srgbClr val="569DA8"/>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Methodology</a:t>
                      </a:r>
                      <a:endParaRPr sz="1400" dirty="0">
                        <a:latin typeface="Times New Roman"/>
                        <a:ea typeface="Times New Roman"/>
                        <a:cs typeface="Times New Roman"/>
                        <a:sym typeface="Times New Roman"/>
                      </a:endParaRPr>
                    </a:p>
                  </a:txBody>
                  <a:tcPr marL="63500" marR="63500" marT="63500" marB="63500">
                    <a:solidFill>
                      <a:srgbClr val="569DA8"/>
                    </a:solidFill>
                  </a:tcPr>
                </a:tc>
                <a:tc>
                  <a:txBody>
                    <a:bodyPr/>
                    <a:lstStyle/>
                    <a:p>
                      <a:pPr marL="0" lvl="0" indent="0" algn="ctr" rtl="0">
                        <a:lnSpc>
                          <a:spcPct val="115000"/>
                        </a:lnSpc>
                        <a:spcBef>
                          <a:spcPts val="0"/>
                        </a:spcBef>
                        <a:spcAft>
                          <a:spcPts val="0"/>
                        </a:spcAft>
                        <a:buNone/>
                      </a:pPr>
                      <a:r>
                        <a:rPr lang="en-IN" sz="1400" b="1" dirty="0">
                          <a:latin typeface="Times New Roman"/>
                          <a:ea typeface="Times New Roman"/>
                          <a:cs typeface="Times New Roman"/>
                          <a:sym typeface="Times New Roman"/>
                        </a:rPr>
                        <a:t>Relevance to </a:t>
                      </a:r>
                      <a:r>
                        <a:rPr lang="en-IN" sz="1400" b="1" dirty="0" err="1">
                          <a:latin typeface="Times New Roman"/>
                          <a:ea typeface="Times New Roman"/>
                          <a:cs typeface="Times New Roman"/>
                          <a:sym typeface="Times New Roman"/>
                        </a:rPr>
                        <a:t>ThiefGuard</a:t>
                      </a:r>
                      <a:endParaRPr sz="1400" dirty="0">
                        <a:latin typeface="Times New Roman"/>
                        <a:ea typeface="Times New Roman"/>
                        <a:cs typeface="Times New Roman"/>
                        <a:sym typeface="Times New Roman"/>
                      </a:endParaRPr>
                    </a:p>
                  </a:txBody>
                  <a:tcPr marL="63500" marR="63500" marT="63500" marB="63500">
                    <a:solidFill>
                      <a:srgbClr val="569DA8"/>
                    </a:solidFill>
                  </a:tcPr>
                </a:tc>
                <a:extLst>
                  <a:ext uri="{0D108BD9-81ED-4DB2-BD59-A6C34878D82A}">
                    <a16:rowId xmlns:a16="http://schemas.microsoft.com/office/drawing/2014/main" xmlns="" val="10000"/>
                  </a:ext>
                </a:extLst>
              </a:tr>
              <a:tr h="1078992">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err="1">
                          <a:latin typeface="Times New Roman"/>
                          <a:ea typeface="Times New Roman"/>
                          <a:cs typeface="Times New Roman"/>
                          <a:sym typeface="Times New Roman"/>
                        </a:rPr>
                        <a:t>Kakadiya</a:t>
                      </a:r>
                      <a:r>
                        <a:rPr lang="en-IN" sz="1200" dirty="0">
                          <a:latin typeface="Times New Roman"/>
                          <a:ea typeface="Times New Roman"/>
                          <a:cs typeface="Times New Roman"/>
                          <a:sym typeface="Times New Roman"/>
                        </a:rPr>
                        <a:t>, R., et al. (2019)</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AI-Based Automatic Robbery/Theft Detection Using Smart Surveillance in Banks</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Implements AI-powered theft detection with smart surveillance for banks.</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Highlights the use of AI in theft prevention and applications for sensitive environments.</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1"/>
                  </a:ext>
                </a:extLst>
              </a:tr>
              <a:tr h="1078992">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err="1">
                          <a:latin typeface="Times New Roman"/>
                          <a:ea typeface="Times New Roman"/>
                          <a:cs typeface="Times New Roman"/>
                          <a:sym typeface="Times New Roman"/>
                        </a:rPr>
                        <a:t>Vidanage</a:t>
                      </a:r>
                      <a:r>
                        <a:rPr lang="en-IN" sz="1200" dirty="0">
                          <a:latin typeface="Times New Roman"/>
                          <a:ea typeface="Times New Roman"/>
                          <a:cs typeface="Times New Roman"/>
                          <a:sym typeface="Times New Roman"/>
                        </a:rPr>
                        <a:t>, K. H., et al. (2023)</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Human, Object, and Pose Detection for Theft Prevention Through Surveillance</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Combines object and pose detection for theft prevention in real-time systems.</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Relevant for pose-based secondary verification and theft prevention.</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2"/>
                  </a:ext>
                </a:extLst>
              </a:tr>
              <a:tr h="1078992">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7</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Shafi, S., et al. (2023)</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Deep Learning Based Real-Time Stolen Vehicle Detection Model</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Uses deep learning to detect stolen vehicles with improved precision.</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Offers insights into precision optimization and real-time detection methods.</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3"/>
                  </a:ext>
                </a:extLst>
              </a:tr>
              <a:tr h="1078992">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8</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Ansari, M. A., &amp; Singh, D. K. (2022)</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a:latin typeface="Times New Roman"/>
                          <a:ea typeface="Times New Roman"/>
                          <a:cs typeface="Times New Roman"/>
                          <a:sym typeface="Times New Roman"/>
                        </a:rPr>
                        <a:t>An Expert Video Surveillance System to Identify and Mitigate Shoplifting</a:t>
                      </a:r>
                      <a:endParaRPr sz="120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Utilizes video surveillance and deep learning to identify shoplifting </a:t>
                      </a:r>
                      <a:r>
                        <a:rPr lang="en-IN" sz="1200" dirty="0" err="1">
                          <a:latin typeface="Times New Roman"/>
                          <a:ea typeface="Times New Roman"/>
                          <a:cs typeface="Times New Roman"/>
                          <a:sym typeface="Times New Roman"/>
                        </a:rPr>
                        <a:t>behavior</a:t>
                      </a:r>
                      <a:r>
                        <a:rPr lang="en-IN" sz="1200" dirty="0">
                          <a:latin typeface="Times New Roman"/>
                          <a:ea typeface="Times New Roman"/>
                          <a:cs typeface="Times New Roman"/>
                          <a:sym typeface="Times New Roman"/>
                        </a:rPr>
                        <a:t>.</a:t>
                      </a:r>
                      <a:endParaRPr sz="1200" dirty="0">
                        <a:latin typeface="Times New Roman"/>
                        <a:ea typeface="Times New Roman"/>
                        <a:cs typeface="Times New Roman"/>
                        <a:sym typeface="Times New Roman"/>
                      </a:endParaRPr>
                    </a:p>
                  </a:txBody>
                  <a:tcPr marL="63500" marR="63500" marT="63500" marB="63500"/>
                </a:tc>
                <a:tc>
                  <a:txBody>
                    <a:bodyPr/>
                    <a:lstStyle/>
                    <a:p>
                      <a:pPr marL="0" lvl="0" indent="0" algn="just" rtl="0">
                        <a:lnSpc>
                          <a:spcPct val="115000"/>
                        </a:lnSpc>
                        <a:spcBef>
                          <a:spcPts val="0"/>
                        </a:spcBef>
                        <a:spcAft>
                          <a:spcPts val="0"/>
                        </a:spcAft>
                        <a:buNone/>
                      </a:pPr>
                      <a:r>
                        <a:rPr lang="en-IN" sz="1200" dirty="0">
                          <a:latin typeface="Times New Roman"/>
                          <a:ea typeface="Times New Roman"/>
                          <a:cs typeface="Times New Roman"/>
                          <a:sym typeface="Times New Roman"/>
                        </a:rPr>
                        <a:t>Provides ideas for reducing false positives in theft detection.</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522364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802167" y="310717"/>
            <a:ext cx="9351776" cy="1431263"/>
          </a:xfrm>
        </p:spPr>
        <p:txBody>
          <a:bodyPr>
            <a:normAutofit/>
          </a:bodyPr>
          <a:lstStyle/>
          <a:p>
            <a:r>
              <a:rPr lang="en-US" sz="4000" dirty="0">
                <a:latin typeface="Rockwell" panose="02060603020205020403" pitchFamily="18" charset="0"/>
              </a:rPr>
              <a:t>REQUIREMENTS</a:t>
            </a:r>
          </a:p>
        </p:txBody>
      </p:sp>
      <p:graphicFrame>
        <p:nvGraphicFramePr>
          <p:cNvPr id="4" name="Content Placeholder 3">
            <a:extLst>
              <a:ext uri="{FF2B5EF4-FFF2-40B4-BE49-F238E27FC236}">
                <a16:creationId xmlns:a16="http://schemas.microsoft.com/office/drawing/2014/main" xmlns="" id="{242FA989-6B7C-488C-85ED-CB8D01BA3254}"/>
              </a:ext>
              <a:ext uri="{C183D7F6-B498-43B3-948B-1728B52AA6E4}">
                <adec:decorative xmlns:adec="http://schemas.microsoft.com/office/drawing/2017/decorative" xmlns="" val="1"/>
              </a:ext>
            </a:extLst>
          </p:cNvPr>
          <p:cNvGraphicFramePr>
            <a:graphicFrameLocks noGrp="1"/>
          </p:cNvGraphicFramePr>
          <p:nvPr>
            <p:ph idx="1"/>
            <p:extLst>
              <p:ext uri="{D42A27DB-BD31-4B8C-83A1-F6EECF244321}">
                <p14:modId xmlns:p14="http://schemas.microsoft.com/office/powerpoint/2010/main" val="2437259780"/>
              </p:ext>
            </p:extLst>
          </p:nvPr>
        </p:nvGraphicFramePr>
        <p:xfrm>
          <a:off x="2006353" y="1741980"/>
          <a:ext cx="8691240" cy="4472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3417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93032"/>
          </a:xfrm>
        </p:spPr>
        <p:txBody>
          <a:bodyPr/>
          <a:lstStyle/>
          <a:p>
            <a:r>
              <a:rPr lang="en-US" dirty="0" smtClean="0">
                <a:latin typeface="Rockwell" panose="02060603020205020403" pitchFamily="18" charset="0"/>
              </a:rPr>
              <a:t>SYSTEM ARCHITECTURE</a:t>
            </a:r>
            <a:endParaRPr lang="en-IN" dirty="0">
              <a:latin typeface="Rockwell" panose="02060603020205020403" pitchFamily="18" charset="0"/>
            </a:endParaRPr>
          </a:p>
        </p:txBody>
      </p:sp>
      <p:pic>
        <p:nvPicPr>
          <p:cNvPr id="6" name="Content Placeholder 5" descr="https://lh7-rt.googleusercontent.com/docsz/AD_4nXeBf2MvIQUZA2uitOX3yiwTl4mN6EtyG4H_s9DdIit7xXL-iDq3QIiHSI_rRwKgU3dJ0r7M-H2UVbw-7qHrRioUsa7QXvTZGXPFjuNi8uLdyQA1dlcmxbksXfww7ecdSZlBuaAjdw?key=i8tcQqcN0o5g2a1yvMQXfg"/>
          <p:cNvPicPr>
            <a:picLocks noGrp="1"/>
          </p:cNvPicPr>
          <p:nvPr>
            <p:ph idx="1"/>
          </p:nvPr>
        </p:nvPicPr>
        <p:blipFill rotWithShape="1">
          <a:blip r:embed="rId2" cstate="print">
            <a:extLst>
              <a:ext uri="{28A0092B-C50C-407E-A947-70E740481C1C}">
                <a14:useLocalDpi xmlns:a14="http://schemas.microsoft.com/office/drawing/2010/main" val="0"/>
              </a:ext>
            </a:extLst>
          </a:blip>
          <a:srcRect t="9773" b="14044"/>
          <a:stretch/>
        </p:blipFill>
        <p:spPr bwMode="auto">
          <a:xfrm>
            <a:off x="1604211" y="2053389"/>
            <a:ext cx="8582526" cy="405865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540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MODULE</a:t>
            </a:r>
            <a:endParaRPr lang="en-IN" dirty="0"/>
          </a:p>
        </p:txBody>
      </p:sp>
      <p:sp>
        <p:nvSpPr>
          <p:cNvPr id="3" name="Content Placeholder 2"/>
          <p:cNvSpPr>
            <a:spLocks noGrp="1"/>
          </p:cNvSpPr>
          <p:nvPr>
            <p:ph idx="1"/>
          </p:nvPr>
        </p:nvSpPr>
        <p:spPr/>
        <p:txBody>
          <a:bodyPr/>
          <a:lstStyle/>
          <a:p>
            <a:r>
              <a:rPr lang="en-IN" b="1" dirty="0" smtClean="0"/>
              <a:t>Input Module</a:t>
            </a:r>
          </a:p>
          <a:p>
            <a:r>
              <a:rPr lang="en-IN" b="1" dirty="0" smtClean="0"/>
              <a:t>Object Detection Module(YOLO)</a:t>
            </a:r>
          </a:p>
          <a:p>
            <a:r>
              <a:rPr lang="en-IN" b="1" dirty="0" smtClean="0"/>
              <a:t>Verification Module (</a:t>
            </a:r>
            <a:r>
              <a:rPr lang="en-IN" b="1" dirty="0" err="1" smtClean="0"/>
              <a:t>GeminI</a:t>
            </a:r>
            <a:r>
              <a:rPr lang="en-IN" b="1" dirty="0" smtClean="0"/>
              <a:t>)</a:t>
            </a:r>
          </a:p>
          <a:p>
            <a:r>
              <a:rPr lang="en-IN" b="1" dirty="0" smtClean="0"/>
              <a:t>Alert and Notification Module</a:t>
            </a:r>
            <a:endParaRPr lang="en-IN" dirty="0"/>
          </a:p>
          <a:p>
            <a:r>
              <a:rPr lang="en-IN" b="1" dirty="0" smtClean="0"/>
              <a:t>User Interface Module (</a:t>
            </a:r>
            <a:r>
              <a:rPr lang="en-IN" b="1" dirty="0" err="1" smtClean="0"/>
              <a:t>Streamlit</a:t>
            </a:r>
            <a:r>
              <a:rPr lang="en-IN" b="1" dirty="0" smtClean="0"/>
              <a:t> Application</a:t>
            </a:r>
            <a:r>
              <a:rPr lang="en-IN" b="1" dirty="0"/>
              <a:t>)</a:t>
            </a:r>
            <a:endParaRPr lang="en-IN" dirty="0"/>
          </a:p>
        </p:txBody>
      </p:sp>
    </p:spTree>
    <p:extLst>
      <p:ext uri="{BB962C8B-B14F-4D97-AF65-F5344CB8AC3E}">
        <p14:creationId xmlns:p14="http://schemas.microsoft.com/office/powerpoint/2010/main" val="3119102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9434" y="918890"/>
            <a:ext cx="9905998" cy="1478570"/>
          </a:xfrm>
        </p:spPr>
        <p:txBody>
          <a:bodyPr/>
          <a:lstStyle/>
          <a:p>
            <a:r>
              <a:rPr lang="en-US" dirty="0">
                <a:latin typeface="Rockwell" panose="02060603020205020403" pitchFamily="18" charset="0"/>
              </a:rPr>
              <a:t>CLASS DIAGRAM</a:t>
            </a:r>
            <a:endParaRPr lang="en-IN" dirty="0">
              <a:latin typeface="Rockwell" panose="02060603020205020403" pitchFamily="18" charset="0"/>
            </a:endParaRPr>
          </a:p>
        </p:txBody>
      </p:sp>
      <p:pic>
        <p:nvPicPr>
          <p:cNvPr id="2050" name="Picture 2" descr="https://lh7-rt.googleusercontent.com/slidesz/AGV_vUebqAAnSdModAaahbs9caFXvVxo7HB6FAzUAmVDiXmMJChSYrV5C_iODI8DuL2AEIHL9tX5JlecgMFDiIXNBIU41Ib7Ght8zucOa9aRbLRAAeUArj67hh5olV552hG62IglCEfs1CgicYEdaPh0ybs=s2048?key=XqJH7nPelA6RkRRd5guiHFK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93616" y="2097088"/>
            <a:ext cx="5203456" cy="39064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00463" y="321739"/>
            <a:ext cx="7010400" cy="707886"/>
          </a:xfrm>
          <a:prstGeom prst="rect">
            <a:avLst/>
          </a:prstGeom>
          <a:noFill/>
        </p:spPr>
        <p:txBody>
          <a:bodyPr wrap="square" rtlCol="0">
            <a:spAutoFit/>
          </a:bodyPr>
          <a:lstStyle/>
          <a:p>
            <a:r>
              <a:rPr lang="en-US" sz="4000" b="1" dirty="0" smtClean="0">
                <a:latin typeface="Times New Roman" panose="02020603050405020304" pitchFamily="18" charset="0"/>
                <a:cs typeface="Times New Roman" panose="02020603050405020304" pitchFamily="18" charset="0"/>
              </a:rPr>
              <a:t>UML DIAGRAMS</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450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Rockwell" panose="02060603020205020403" pitchFamily="18" charset="0"/>
              </a:rPr>
              <a:t>USE CASE DIAGRAM</a:t>
            </a:r>
            <a:endParaRPr lang="en-IN" dirty="0">
              <a:latin typeface="Rockwell" panose="02060603020205020403" pitchFamily="18" charset="0"/>
            </a:endParaRPr>
          </a:p>
        </p:txBody>
      </p:sp>
      <p:pic>
        <p:nvPicPr>
          <p:cNvPr id="1026" name="Picture 2" descr="https://lh7-rt.googleusercontent.com/slidesz/AGV_vUf3j6rhn5FSe4Y9_m6GDx22IeImQ403XWOnAAUImMJEhXJrWoffUa7uypZzzjt05aDfsCGURGaflBGGb4aUMMAP1bdO5ybXvK9_lKVv_qI6m9s6sbxgsHXIofIBsXGsV9WIU8OxFO5wIUJsEwcTCgI=s2048?key=XqJH7nPelA6RkRRd5guiHFK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2544" y="2414727"/>
            <a:ext cx="7910003" cy="255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890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Rockwell" panose="02060603020205020403" pitchFamily="18" charset="0"/>
              </a:rPr>
              <a:t>OBJECT DIAGRAM</a:t>
            </a:r>
            <a:endParaRPr lang="en-IN" dirty="0">
              <a:latin typeface="Rockwell" panose="02060603020205020403" pitchFamily="18" charset="0"/>
            </a:endParaRPr>
          </a:p>
        </p:txBody>
      </p:sp>
      <p:pic>
        <p:nvPicPr>
          <p:cNvPr id="6" name="Content Placeholder 5" descr="https://lh7-rt.googleusercontent.com/docsz/AD_4nXeJyVdNhX3XljR977YiUrihaq-xmqTwvTLSkNwOTv8xL5iRoSey-sO7qAsf2IBgrhM774El9wYDsyXRXptXjv9U1IoIu7Lyy3joK-C28yPqKzDfehy2E8tUw9Htrdj-289ssmxuKA?key=MrAKzrtEIZBZ7azUFsI8ecT_"/>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5410" y="2097088"/>
            <a:ext cx="4588711" cy="4006056"/>
          </a:xfrm>
          <a:prstGeom prst="rect">
            <a:avLst/>
          </a:prstGeom>
          <a:noFill/>
          <a:ln>
            <a:noFill/>
          </a:ln>
        </p:spPr>
      </p:pic>
    </p:spTree>
    <p:extLst>
      <p:ext uri="{BB962C8B-B14F-4D97-AF65-F5344CB8AC3E}">
        <p14:creationId xmlns:p14="http://schemas.microsoft.com/office/powerpoint/2010/main" val="2928768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08" y="878892"/>
            <a:ext cx="7995033" cy="1214602"/>
          </a:xfrm>
        </p:spPr>
        <p:txBody>
          <a:bodyPr>
            <a:normAutofit/>
          </a:bodyPr>
          <a:lstStyle/>
          <a:p>
            <a:r>
              <a:rPr lang="en-IN" dirty="0">
                <a:latin typeface="Rockwell" panose="02060603020205020403" pitchFamily="18" charset="0"/>
              </a:rPr>
              <a:t>STATE CHART DIAGRAM</a:t>
            </a:r>
            <a:endParaRPr lang="en-IN" dirty="0">
              <a:latin typeface="Rockwell" panose="02060603020205020403" pitchFamily="18" charset="0"/>
            </a:endParaRPr>
          </a:p>
        </p:txBody>
      </p:sp>
      <p:pic>
        <p:nvPicPr>
          <p:cNvPr id="5" name="Content Placeholder 4" descr="https://lh7-rt.googleusercontent.com/docsz/AD_4nXdrqoylDNtGajhnfttgZiF9Kv-x9GBtk3X7lgcse4thE10AjB025lObbSp2I90kRzxIud-E_aJMbVc4ecHUSPf45uxtq-htBHsCRV11jm1VqdBZn_QB3vo0sqrYNjr49PqzXbLf?key=MrAKzrtEIZBZ7azUFsI8ecT_"/>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454442" y="2518969"/>
            <a:ext cx="5933059" cy="3440673"/>
          </a:xfrm>
          <a:prstGeom prst="rect">
            <a:avLst/>
          </a:prstGeom>
          <a:noFill/>
          <a:ln>
            <a:noFill/>
          </a:ln>
        </p:spPr>
      </p:pic>
    </p:spTree>
    <p:extLst>
      <p:ext uri="{BB962C8B-B14F-4D97-AF65-F5344CB8AC3E}">
        <p14:creationId xmlns:p14="http://schemas.microsoft.com/office/powerpoint/2010/main" val="1229830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5749" y="467363"/>
            <a:ext cx="10301904" cy="1707432"/>
          </a:xfrm>
        </p:spPr>
        <p:txBody>
          <a:bodyPr/>
          <a:lstStyle/>
          <a:p>
            <a:r>
              <a:rPr lang="en-IN" dirty="0">
                <a:latin typeface="Rockwell" panose="02060603020205020403" pitchFamily="18" charset="0"/>
              </a:rPr>
              <a:t>ACTIVITY </a:t>
            </a:r>
            <a:r>
              <a:rPr lang="en-IN" dirty="0" smtClean="0">
                <a:latin typeface="Rockwell" panose="02060603020205020403" pitchFamily="18" charset="0"/>
              </a:rPr>
              <a:t> DIAGRAM</a:t>
            </a:r>
            <a:endParaRPr lang="en-IN" dirty="0">
              <a:latin typeface="Rockwell" panose="02060603020205020403" pitchFamily="18" charset="0"/>
            </a:endParaRPr>
          </a:p>
        </p:txBody>
      </p:sp>
      <p:pic>
        <p:nvPicPr>
          <p:cNvPr id="7170" name="Picture 2" descr="https://lh7-rt.googleusercontent.com/slidesz/AGV_vUczlU-ErtUn8J5a-8Yz-rr8iAvyvyKeRUvXpIOII1tS3Zn9_9Vllb4yjGTMARQCGZemYTtSEigULcMOiM61CI6PJRaTTnk8Yf5n-oAxp5VkpWSYRhMId5gDlpqjq3rsh-sNVg89qS3Xoeq0gopWrS8=s2048?key=XqJH7nPelA6RkRRd5guiHFK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01316" y="1860885"/>
            <a:ext cx="4393215" cy="44541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283242" y="5181600"/>
            <a:ext cx="882316" cy="369332"/>
          </a:xfrm>
          <a:prstGeom prst="rect">
            <a:avLst/>
          </a:prstGeom>
          <a:solidFill>
            <a:schemeClr val="tx1"/>
          </a:solidFill>
        </p:spPr>
        <p:txBody>
          <a:bodyPr wrap="square" rtlCol="0">
            <a:spAutoFit/>
          </a:bodyPr>
          <a:lstStyle/>
          <a:p>
            <a:endParaRPr lang="en-IN" dirty="0"/>
          </a:p>
        </p:txBody>
      </p:sp>
      <p:sp>
        <p:nvSpPr>
          <p:cNvPr id="5" name="TextBox 4"/>
          <p:cNvSpPr txBox="1"/>
          <p:nvPr/>
        </p:nvSpPr>
        <p:spPr>
          <a:xfrm>
            <a:off x="5390147" y="5462337"/>
            <a:ext cx="882316" cy="369332"/>
          </a:xfrm>
          <a:prstGeom prst="rect">
            <a:avLst/>
          </a:prstGeom>
          <a:solidFill>
            <a:schemeClr val="tx1"/>
          </a:solidFill>
        </p:spPr>
        <p:txBody>
          <a:bodyPr wrap="square" rtlCol="0">
            <a:spAutoFit/>
          </a:bodyPr>
          <a:lstStyle/>
          <a:p>
            <a:endParaRPr lang="en-IN" dirty="0"/>
          </a:p>
        </p:txBody>
      </p:sp>
      <p:cxnSp>
        <p:nvCxnSpPr>
          <p:cNvPr id="6" name="Straight Connector 5"/>
          <p:cNvCxnSpPr/>
          <p:nvPr/>
        </p:nvCxnSpPr>
        <p:spPr>
          <a:xfrm>
            <a:off x="4283242" y="5334364"/>
            <a:ext cx="8823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660233" y="5334364"/>
            <a:ext cx="0" cy="2165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350042" y="5647003"/>
            <a:ext cx="92242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751097" y="5647003"/>
            <a:ext cx="0" cy="21656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888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Rockwell" panose="02060603020205020403" pitchFamily="18" charset="0"/>
              </a:rPr>
              <a:t>SEQUENCE DIAGRAM</a:t>
            </a:r>
          </a:p>
        </p:txBody>
      </p:sp>
      <p:pic>
        <p:nvPicPr>
          <p:cNvPr id="4098" name="Picture 2" descr="https://lh7-rt.googleusercontent.com/slidesz/AGV_vUeupv1The3G90jrwNgvECrzhPg1Mcg1TRpzh8eRPhOV-WFmSC6-klHcaaCfYYU-AU-rBhFaVjAdw6_yf3wYsNKzCSqzFw9F17uGMMZwX24jFQkPI4lg4DFIOrU3Sj6nU6TSp0jlI1j0bCz8L2q9Dg=s2048?key=XqJH7nPelA6RkRRd5guiHFK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0340" y="1886753"/>
            <a:ext cx="7055836" cy="440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608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Rockwell" panose="02060603020205020403" pitchFamily="18" charset="0"/>
              </a:rPr>
              <a:t>COLLABORATION DIAGRAM</a:t>
            </a:r>
          </a:p>
        </p:txBody>
      </p:sp>
      <p:pic>
        <p:nvPicPr>
          <p:cNvPr id="5122" name="Picture 2" descr="https://lh7-rt.googleusercontent.com/slidesz/AGV_vUdOiQLmubiImh9hiBqosFmHTP020fikhNclpKEu9Y1mF1fIaAG0c7l2GBGcp9aKrasTlr3M-uPCkr_AWdw9jxmAHKMLsDtR43GjJzlSQYm3c6qZ1NtYR2A7mCwVx6uaALfmzdfKzLOkzV-VbKEdeI8=s2048?key=XqJH7nPelA6RkRRd5guiHFK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1752" y="2721661"/>
            <a:ext cx="9969623" cy="151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511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979463"/>
          </a:xfrm>
        </p:spPr>
        <p:txBody>
          <a:bodyPr/>
          <a:lstStyle/>
          <a:p>
            <a:r>
              <a:rPr lang="en-IN" dirty="0">
                <a:latin typeface="Rockwell" panose="02060603020205020403" pitchFamily="18" charset="0"/>
              </a:rPr>
              <a:t>COMPONENT DIAGRAM</a:t>
            </a:r>
          </a:p>
        </p:txBody>
      </p:sp>
      <p:pic>
        <p:nvPicPr>
          <p:cNvPr id="5" name="Content Placeholder 4" descr="https://lh7-rt.googleusercontent.com/docsz/AD_4nXcN-v0uAZPAe1X_n5q5rtyyoJDd3Z0iI5ylvsvn4brJAQoQsNWOQ1vDxJAIQJToma86GjTRtz6GkD0mcPiWs2BMNHRiqFIsU0LG5HiH42MD9GCZPtVGrvhLEJsayQx-x2ctJtXgDw?key=MrAKzrtEIZBZ7azUFsI8ecT_"/>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17081" y="2249488"/>
            <a:ext cx="2754664" cy="3541712"/>
          </a:xfrm>
          <a:prstGeom prst="rect">
            <a:avLst/>
          </a:prstGeom>
          <a:noFill/>
          <a:ln>
            <a:noFill/>
          </a:ln>
        </p:spPr>
      </p:pic>
    </p:spTree>
    <p:extLst>
      <p:ext uri="{BB962C8B-B14F-4D97-AF65-F5344CB8AC3E}">
        <p14:creationId xmlns:p14="http://schemas.microsoft.com/office/powerpoint/2010/main" val="3782222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103750"/>
          </a:xfrm>
        </p:spPr>
        <p:txBody>
          <a:bodyPr/>
          <a:lstStyle/>
          <a:p>
            <a:r>
              <a:rPr lang="en-IN" dirty="0">
                <a:latin typeface="Rockwell" panose="02060603020205020403" pitchFamily="18" charset="0"/>
              </a:rPr>
              <a:t>DEPLOYMENT DIAGRAM</a:t>
            </a:r>
          </a:p>
        </p:txBody>
      </p:sp>
      <p:pic>
        <p:nvPicPr>
          <p:cNvPr id="5" name="Content Placeholder 4" descr="https://lh7-rt.googleusercontent.com/docsz/AD_4nXdfT1bZvKztEpg18SDf4VSB2wkkawqrV15wBxFYC_JMmxkOOMRw0cxOAYmt6alxRxYPFxM66SDOTqYHopzuLGpt5qik2XybJ84kzUv7NGkjk71bPnSWiU5Ps0eARAwNGgcbLXaJ8w?key=MrAKzrtEIZBZ7azUFsI8ecT_"/>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5738" y="2548731"/>
            <a:ext cx="9277350" cy="2943225"/>
          </a:xfrm>
          <a:prstGeom prst="rect">
            <a:avLst/>
          </a:prstGeom>
          <a:noFill/>
          <a:ln>
            <a:noFill/>
          </a:ln>
        </p:spPr>
      </p:pic>
    </p:spTree>
    <p:extLst>
      <p:ext uri="{BB962C8B-B14F-4D97-AF65-F5344CB8AC3E}">
        <p14:creationId xmlns:p14="http://schemas.microsoft.com/office/powerpoint/2010/main" val="4294560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825622"/>
          </a:xfrm>
        </p:spPr>
        <p:txBody>
          <a:bodyPr/>
          <a:lstStyle/>
          <a:p>
            <a:r>
              <a:rPr lang="en-US" dirty="0"/>
              <a:t>ALGORITHM</a:t>
            </a:r>
            <a:endParaRPr lang="en-IN" dirty="0"/>
          </a:p>
        </p:txBody>
      </p:sp>
      <p:sp>
        <p:nvSpPr>
          <p:cNvPr id="3" name="Content Placeholder 2"/>
          <p:cNvSpPr>
            <a:spLocks noGrp="1"/>
          </p:cNvSpPr>
          <p:nvPr>
            <p:ph idx="1"/>
          </p:nvPr>
        </p:nvSpPr>
        <p:spPr>
          <a:xfrm>
            <a:off x="1141411" y="692459"/>
            <a:ext cx="9905999" cy="4246486"/>
          </a:xfrm>
        </p:spPr>
        <p:txBody>
          <a:bodyPr>
            <a:noAutofit/>
          </a:bodyPr>
          <a:lstStyle/>
          <a:p>
            <a:r>
              <a:rPr lang="en-US" sz="1400" b="1" dirty="0">
                <a:solidFill>
                  <a:schemeClr val="accent3">
                    <a:lumMod val="20000"/>
                    <a:lumOff val="80000"/>
                  </a:schemeClr>
                </a:solidFill>
              </a:rPr>
              <a:t>Step 1: Pass YOLO Outputs to the </a:t>
            </a:r>
            <a:r>
              <a:rPr lang="en-US" sz="1400" b="1" dirty="0" err="1">
                <a:solidFill>
                  <a:schemeClr val="accent3">
                    <a:lumMod val="20000"/>
                    <a:lumOff val="80000"/>
                  </a:schemeClr>
                </a:solidFill>
              </a:rPr>
              <a:t>GeminI</a:t>
            </a:r>
            <a:r>
              <a:rPr lang="en-US" sz="1400" b="1" dirty="0">
                <a:solidFill>
                  <a:schemeClr val="accent3">
                    <a:lumMod val="20000"/>
                    <a:lumOff val="80000"/>
                  </a:schemeClr>
                </a:solidFill>
              </a:rPr>
              <a:t> Model</a:t>
            </a:r>
            <a:endParaRPr lang="en-US" sz="1400" dirty="0">
              <a:solidFill>
                <a:schemeClr val="accent3">
                  <a:lumMod val="20000"/>
                  <a:lumOff val="80000"/>
                </a:schemeClr>
              </a:solidFill>
            </a:endParaRPr>
          </a:p>
          <a:p>
            <a:pPr marL="0" indent="0" fontAlgn="base">
              <a:buNone/>
            </a:pPr>
            <a:r>
              <a:rPr lang="en-US" sz="1400" dirty="0">
                <a:solidFill>
                  <a:schemeClr val="accent3">
                    <a:lumMod val="20000"/>
                    <a:lumOff val="80000"/>
                  </a:schemeClr>
                </a:solidFill>
              </a:rPr>
              <a:t>    Transfer the flagged outputs from YOLO to the secondary verification model, </a:t>
            </a:r>
            <a:r>
              <a:rPr lang="en-US" sz="1400" dirty="0" err="1">
                <a:solidFill>
                  <a:schemeClr val="accent3">
                    <a:lumMod val="20000"/>
                    <a:lumOff val="80000"/>
                  </a:schemeClr>
                </a:solidFill>
              </a:rPr>
              <a:t>GeminI</a:t>
            </a:r>
            <a:r>
              <a:rPr lang="en-US" sz="1400" dirty="0">
                <a:solidFill>
                  <a:schemeClr val="accent3">
                    <a:lumMod val="20000"/>
                    <a:lumOff val="80000"/>
                  </a:schemeClr>
                </a:solidFill>
              </a:rPr>
              <a:t>.</a:t>
            </a:r>
          </a:p>
          <a:p>
            <a:pPr marL="0" indent="0" fontAlgn="base">
              <a:buNone/>
            </a:pPr>
            <a:r>
              <a:rPr lang="en-US" sz="1400" dirty="0">
                <a:solidFill>
                  <a:schemeClr val="accent3">
                    <a:lumMod val="20000"/>
                    <a:lumOff val="80000"/>
                  </a:schemeClr>
                </a:solidFill>
              </a:rPr>
              <a:t>    Prepare the detected data for in-depth analysis.</a:t>
            </a:r>
          </a:p>
          <a:p>
            <a:r>
              <a:rPr lang="en-US" sz="1400" b="1" dirty="0">
                <a:solidFill>
                  <a:schemeClr val="accent3">
                    <a:lumMod val="20000"/>
                    <a:lumOff val="80000"/>
                  </a:schemeClr>
                </a:solidFill>
              </a:rPr>
              <a:t>Step 2: Perform Secondary Analysis</a:t>
            </a:r>
            <a:endParaRPr lang="en-US" sz="1400" dirty="0">
              <a:solidFill>
                <a:schemeClr val="accent3">
                  <a:lumMod val="20000"/>
                  <a:lumOff val="80000"/>
                </a:schemeClr>
              </a:solidFill>
            </a:endParaRPr>
          </a:p>
          <a:p>
            <a:pPr marL="0" indent="0" fontAlgn="base">
              <a:buNone/>
            </a:pPr>
            <a:r>
              <a:rPr lang="en-US" sz="1400" dirty="0">
                <a:solidFill>
                  <a:schemeClr val="accent3">
                    <a:lumMod val="20000"/>
                    <a:lumOff val="80000"/>
                  </a:schemeClr>
                </a:solidFill>
              </a:rPr>
              <a:t>     Analyze the input data using </a:t>
            </a:r>
            <a:r>
              <a:rPr lang="en-US" sz="1400" dirty="0" err="1">
                <a:solidFill>
                  <a:schemeClr val="accent3">
                    <a:lumMod val="20000"/>
                    <a:lumOff val="80000"/>
                  </a:schemeClr>
                </a:solidFill>
              </a:rPr>
              <a:t>GeminI’s</a:t>
            </a:r>
            <a:r>
              <a:rPr lang="en-US" sz="1400" dirty="0">
                <a:solidFill>
                  <a:schemeClr val="accent3">
                    <a:lumMod val="20000"/>
                    <a:lumOff val="80000"/>
                  </a:schemeClr>
                </a:solidFill>
              </a:rPr>
              <a:t> advanced verification mechanisms.</a:t>
            </a:r>
          </a:p>
          <a:p>
            <a:pPr marL="0" indent="0" fontAlgn="base">
              <a:buNone/>
            </a:pPr>
            <a:r>
              <a:rPr lang="en-US" sz="1400" dirty="0">
                <a:solidFill>
                  <a:schemeClr val="accent3">
                    <a:lumMod val="20000"/>
                    <a:lumOff val="80000"/>
                  </a:schemeClr>
                </a:solidFill>
              </a:rPr>
              <a:t>     Validate the detections by comparing patterns, motion, and behavior.</a:t>
            </a:r>
          </a:p>
          <a:p>
            <a:r>
              <a:rPr lang="en-US" sz="1400" b="1" dirty="0">
                <a:solidFill>
                  <a:schemeClr val="accent3">
                    <a:lumMod val="20000"/>
                    <a:lumOff val="80000"/>
                  </a:schemeClr>
                </a:solidFill>
              </a:rPr>
              <a:t>Step 3: Reject False Positives</a:t>
            </a:r>
            <a:endParaRPr lang="en-US" sz="1400" dirty="0">
              <a:solidFill>
                <a:schemeClr val="accent3">
                  <a:lumMod val="20000"/>
                  <a:lumOff val="80000"/>
                </a:schemeClr>
              </a:solidFill>
            </a:endParaRPr>
          </a:p>
          <a:p>
            <a:pPr marL="0" indent="0">
              <a:buNone/>
            </a:pPr>
            <a:r>
              <a:rPr lang="en-US" sz="1400" dirty="0">
                <a:solidFill>
                  <a:schemeClr val="accent3">
                    <a:lumMod val="20000"/>
                    <a:lumOff val="80000"/>
                  </a:schemeClr>
                </a:solidFill>
              </a:rPr>
              <a:t>     Discard incorrect detections to improve system reliability.</a:t>
            </a:r>
          </a:p>
          <a:p>
            <a:pPr marL="0" indent="0">
              <a:buNone/>
            </a:pPr>
            <a:r>
              <a:rPr lang="en-US" sz="1400" dirty="0">
                <a:solidFill>
                  <a:schemeClr val="accent3">
                    <a:lumMod val="20000"/>
                    <a:lumOff val="80000"/>
                  </a:schemeClr>
                </a:solidFill>
              </a:rPr>
              <a:t>     Focus on confirming only valid theft instances.</a:t>
            </a:r>
          </a:p>
          <a:p>
            <a:r>
              <a:rPr lang="en-US" sz="1400" b="1" dirty="0">
                <a:solidFill>
                  <a:schemeClr val="accent3">
                    <a:lumMod val="20000"/>
                    <a:lumOff val="80000"/>
                  </a:schemeClr>
                </a:solidFill>
              </a:rPr>
              <a:t>Step 4: Confirm Valid Theft Activities</a:t>
            </a:r>
            <a:endParaRPr lang="en-US" sz="1400" dirty="0">
              <a:solidFill>
                <a:schemeClr val="accent3">
                  <a:lumMod val="20000"/>
                  <a:lumOff val="80000"/>
                </a:schemeClr>
              </a:solidFill>
            </a:endParaRPr>
          </a:p>
          <a:p>
            <a:pPr marL="0" indent="0" fontAlgn="base">
              <a:buNone/>
            </a:pPr>
            <a:r>
              <a:rPr lang="en-US" sz="1400" dirty="0">
                <a:solidFill>
                  <a:schemeClr val="accent3">
                    <a:lumMod val="20000"/>
                    <a:lumOff val="80000"/>
                  </a:schemeClr>
                </a:solidFill>
              </a:rPr>
              <a:t>     Identify verified theft events with high accuracy using the dual-layer system.</a:t>
            </a:r>
          </a:p>
          <a:p>
            <a:pPr marL="0" indent="0" fontAlgn="base">
              <a:buNone/>
            </a:pPr>
            <a:r>
              <a:rPr lang="en-US" sz="1400" dirty="0">
                <a:solidFill>
                  <a:schemeClr val="accent3">
                    <a:lumMod val="20000"/>
                    <a:lumOff val="80000"/>
                  </a:schemeClr>
                </a:solidFill>
              </a:rPr>
              <a:t>     Maintain a log of confirmed events for future audits.</a:t>
            </a:r>
          </a:p>
          <a:p>
            <a:r>
              <a:rPr lang="en-US" sz="1400" b="1" dirty="0">
                <a:solidFill>
                  <a:schemeClr val="accent3">
                    <a:lumMod val="20000"/>
                    <a:lumOff val="80000"/>
                  </a:schemeClr>
                </a:solidFill>
              </a:rPr>
              <a:t>Step 5: Trigger Alert Mechanisms</a:t>
            </a:r>
            <a:endParaRPr lang="en-US" sz="1400" dirty="0">
              <a:solidFill>
                <a:schemeClr val="accent3">
                  <a:lumMod val="20000"/>
                  <a:lumOff val="80000"/>
                </a:schemeClr>
              </a:solidFill>
            </a:endParaRPr>
          </a:p>
          <a:p>
            <a:pPr marL="0" indent="0" fontAlgn="base">
              <a:buNone/>
            </a:pPr>
            <a:r>
              <a:rPr lang="en-US" sz="1400" dirty="0">
                <a:solidFill>
                  <a:schemeClr val="accent3">
                    <a:lumMod val="20000"/>
                    <a:lumOff val="80000"/>
                  </a:schemeClr>
                </a:solidFill>
              </a:rPr>
              <a:t>     Notify users immediately via email alerts with detailed theft information.</a:t>
            </a:r>
          </a:p>
          <a:p>
            <a:pPr marL="0" indent="0" fontAlgn="base">
              <a:buNone/>
            </a:pPr>
            <a:r>
              <a:rPr lang="en-US" sz="1400" dirty="0">
                <a:solidFill>
                  <a:schemeClr val="accent3">
                    <a:lumMod val="20000"/>
                    <a:lumOff val="80000"/>
                  </a:schemeClr>
                </a:solidFill>
              </a:rPr>
              <a:t>      Log the event in the system database and update the user interface.</a:t>
            </a:r>
          </a:p>
          <a:p>
            <a:endParaRPr lang="en-IN" sz="1400" dirty="0">
              <a:solidFill>
                <a:schemeClr val="accent3">
                  <a:lumMod val="20000"/>
                  <a:lumOff val="80000"/>
                </a:schemeClr>
              </a:solidFill>
            </a:endParaRPr>
          </a:p>
        </p:txBody>
      </p:sp>
    </p:spTree>
    <p:extLst>
      <p:ext uri="{BB962C8B-B14F-4D97-AF65-F5344CB8AC3E}">
        <p14:creationId xmlns:p14="http://schemas.microsoft.com/office/powerpoint/2010/main" val="2242851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181294" y="281167"/>
            <a:ext cx="45719" cy="429047"/>
          </a:xfrm>
        </p:spPr>
        <p:txBody>
          <a:bodyPr>
            <a:normAutofit/>
          </a:bodyPr>
          <a:lstStyle/>
          <a:p>
            <a:r>
              <a:rPr lang="en-US" sz="800" dirty="0"/>
              <a:t>.</a:t>
            </a:r>
            <a:endParaRPr lang="en-IN" sz="800" dirty="0"/>
          </a:p>
        </p:txBody>
      </p:sp>
      <p:sp>
        <p:nvSpPr>
          <p:cNvPr id="3" name="Content Placeholder 2"/>
          <p:cNvSpPr>
            <a:spLocks noGrp="1"/>
          </p:cNvSpPr>
          <p:nvPr>
            <p:ph idx="1"/>
          </p:nvPr>
        </p:nvSpPr>
        <p:spPr>
          <a:xfrm>
            <a:off x="1280884" y="1452979"/>
            <a:ext cx="9905999" cy="4965578"/>
          </a:xfrm>
        </p:spPr>
        <p:txBody>
          <a:bodyPr>
            <a:normAutofit fontScale="77500" lnSpcReduction="20000"/>
          </a:bodyPr>
          <a:lstStyle/>
          <a:p>
            <a:pPr marL="0" indent="0">
              <a:buNone/>
            </a:pPr>
            <a:r>
              <a:rPr lang="en-US" sz="2600" dirty="0"/>
              <a:t>The system relies on various libraries and tools to achieve its functionality. Each library plays a specific role in the development and deployment of </a:t>
            </a:r>
            <a:r>
              <a:rPr lang="en-US" sz="2600" dirty="0" err="1"/>
              <a:t>ThiefGuard</a:t>
            </a:r>
            <a:r>
              <a:rPr lang="en-US" sz="2600" dirty="0"/>
              <a:t>:</a:t>
            </a:r>
          </a:p>
          <a:p>
            <a:pPr fontAlgn="base"/>
            <a:r>
              <a:rPr lang="en-US" b="1" dirty="0"/>
              <a:t>Deep Learning Frameworks</a:t>
            </a:r>
            <a:r>
              <a:rPr lang="en-US" dirty="0"/>
              <a:t>:</a:t>
            </a:r>
          </a:p>
          <a:p>
            <a:pPr lvl="1" fontAlgn="base"/>
            <a:r>
              <a:rPr lang="en-US" b="1" dirty="0" err="1">
                <a:solidFill>
                  <a:schemeClr val="accent3">
                    <a:lumMod val="20000"/>
                    <a:lumOff val="80000"/>
                  </a:schemeClr>
                </a:solidFill>
              </a:rPr>
              <a:t>TensorFlow</a:t>
            </a:r>
            <a:r>
              <a:rPr lang="en-US" b="1" dirty="0">
                <a:solidFill>
                  <a:schemeClr val="accent3">
                    <a:lumMod val="20000"/>
                    <a:lumOff val="80000"/>
                  </a:schemeClr>
                </a:solidFill>
              </a:rPr>
              <a:t> and </a:t>
            </a:r>
            <a:r>
              <a:rPr lang="en-US" b="1" dirty="0" err="1">
                <a:solidFill>
                  <a:schemeClr val="accent3">
                    <a:lumMod val="20000"/>
                    <a:lumOff val="80000"/>
                  </a:schemeClr>
                </a:solidFill>
              </a:rPr>
              <a:t>PyTorch</a:t>
            </a:r>
            <a:r>
              <a:rPr lang="en-US" dirty="0">
                <a:solidFill>
                  <a:schemeClr val="accent3">
                    <a:lumMod val="20000"/>
                    <a:lumOff val="80000"/>
                  </a:schemeClr>
                </a:solidFill>
              </a:rPr>
              <a:t>:</a:t>
            </a:r>
          </a:p>
          <a:p>
            <a:pPr lvl="2" fontAlgn="base"/>
            <a:r>
              <a:rPr lang="en-US" dirty="0" err="1"/>
              <a:t>TensorFlow</a:t>
            </a:r>
            <a:r>
              <a:rPr lang="en-US" dirty="0"/>
              <a:t> and </a:t>
            </a:r>
            <a:r>
              <a:rPr lang="en-US" dirty="0" err="1"/>
              <a:t>PyTorch</a:t>
            </a:r>
            <a:r>
              <a:rPr lang="en-US" dirty="0"/>
              <a:t> are used to implement and fine-tune the YOLO and </a:t>
            </a:r>
            <a:r>
              <a:rPr lang="en-US" dirty="0" err="1"/>
              <a:t>GeminI</a:t>
            </a:r>
            <a:r>
              <a:rPr lang="en-US" dirty="0"/>
              <a:t> models.</a:t>
            </a:r>
          </a:p>
          <a:p>
            <a:pPr lvl="2" fontAlgn="base"/>
            <a:r>
              <a:rPr lang="en-US" dirty="0"/>
              <a:t>They provide the flexibility to handle large datasets, optimize model performance, and manage GPU acceleration for faster training and inference.</a:t>
            </a:r>
          </a:p>
          <a:p>
            <a:pPr fontAlgn="base"/>
            <a:r>
              <a:rPr lang="en-US" b="1" dirty="0"/>
              <a:t>Image and Video Processing</a:t>
            </a:r>
            <a:r>
              <a:rPr lang="en-US" dirty="0"/>
              <a:t>:</a:t>
            </a:r>
          </a:p>
          <a:p>
            <a:pPr lvl="1" fontAlgn="base"/>
            <a:r>
              <a:rPr lang="en-US" b="1" dirty="0" err="1">
                <a:solidFill>
                  <a:schemeClr val="accent3">
                    <a:lumMod val="20000"/>
                    <a:lumOff val="80000"/>
                  </a:schemeClr>
                </a:solidFill>
              </a:rPr>
              <a:t>OpenCV</a:t>
            </a:r>
            <a:r>
              <a:rPr lang="en-US" dirty="0">
                <a:solidFill>
                  <a:schemeClr val="accent3">
                    <a:lumMod val="20000"/>
                    <a:lumOff val="80000"/>
                  </a:schemeClr>
                </a:solidFill>
              </a:rPr>
              <a:t>:</a:t>
            </a:r>
          </a:p>
          <a:p>
            <a:pPr lvl="2" fontAlgn="base"/>
            <a:r>
              <a:rPr lang="en-US" dirty="0" err="1"/>
              <a:t>OpenCV</a:t>
            </a:r>
            <a:r>
              <a:rPr lang="en-US" dirty="0"/>
              <a:t> is used for image and video preprocessing, such as resizing, cropping, and frame extraction from video inputs.</a:t>
            </a:r>
          </a:p>
          <a:p>
            <a:pPr lvl="2" fontAlgn="base"/>
            <a:r>
              <a:rPr lang="en-US" dirty="0"/>
              <a:t>It also handles visualization tasks, such as drawing bounding boxes around detected objects.</a:t>
            </a:r>
          </a:p>
          <a:p>
            <a:pPr fontAlgn="base"/>
            <a:r>
              <a:rPr lang="en-US" b="1" dirty="0"/>
              <a:t>Data Preprocessing</a:t>
            </a:r>
            <a:r>
              <a:rPr lang="en-US" dirty="0"/>
              <a:t>:</a:t>
            </a:r>
          </a:p>
          <a:p>
            <a:pPr lvl="1" fontAlgn="base"/>
            <a:r>
              <a:rPr lang="en-US" b="1" dirty="0" err="1">
                <a:solidFill>
                  <a:schemeClr val="accent3">
                    <a:lumMod val="20000"/>
                    <a:lumOff val="80000"/>
                  </a:schemeClr>
                </a:solidFill>
              </a:rPr>
              <a:t>scikit</a:t>
            </a:r>
            <a:r>
              <a:rPr lang="en-US" b="1" dirty="0">
                <a:solidFill>
                  <a:schemeClr val="accent3">
                    <a:lumMod val="20000"/>
                    <a:lumOff val="80000"/>
                  </a:schemeClr>
                </a:solidFill>
              </a:rPr>
              <a:t>-learn</a:t>
            </a:r>
            <a:r>
              <a:rPr lang="en-US" dirty="0">
                <a:solidFill>
                  <a:schemeClr val="accent3">
                    <a:lumMod val="20000"/>
                    <a:lumOff val="80000"/>
                  </a:schemeClr>
                </a:solidFill>
              </a:rPr>
              <a:t>:</a:t>
            </a:r>
          </a:p>
          <a:p>
            <a:pPr lvl="2" fontAlgn="base"/>
            <a:r>
              <a:rPr lang="en-US" dirty="0"/>
              <a:t>Used for preprocessing data, including normalization, splitting datasets, and scaling inputs.</a:t>
            </a:r>
          </a:p>
          <a:p>
            <a:pPr lvl="2" fontAlgn="base"/>
            <a:r>
              <a:rPr lang="en-US" dirty="0"/>
              <a:t>Also assists in evaluating model performance through metrics like accuracy, precision, and recall.</a:t>
            </a:r>
          </a:p>
          <a:p>
            <a:pPr marL="0" indent="0">
              <a:buNone/>
            </a:pPr>
            <a:endParaRPr lang="en-IN" dirty="0"/>
          </a:p>
        </p:txBody>
      </p:sp>
      <p:sp>
        <p:nvSpPr>
          <p:cNvPr id="4" name="TextBox 3"/>
          <p:cNvSpPr txBox="1"/>
          <p:nvPr/>
        </p:nvSpPr>
        <p:spPr>
          <a:xfrm>
            <a:off x="1363580" y="745093"/>
            <a:ext cx="8502315" cy="707886"/>
          </a:xfrm>
          <a:prstGeom prst="rect">
            <a:avLst/>
          </a:prstGeom>
          <a:noFill/>
        </p:spPr>
        <p:txBody>
          <a:bodyPr wrap="square" rtlCol="0">
            <a:spAutoFit/>
          </a:bodyPr>
          <a:lstStyle/>
          <a:p>
            <a:r>
              <a:rPr lang="en-US" sz="4000" b="1" dirty="0" smtClean="0">
                <a:latin typeface="Times New Roman" panose="02020603050405020304" pitchFamily="18" charset="0"/>
                <a:cs typeface="Times New Roman" panose="02020603050405020304" pitchFamily="18" charset="0"/>
              </a:rPr>
              <a:t>IMPLEMENTATION</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989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286" y="219023"/>
            <a:ext cx="97655" cy="606600"/>
          </a:xfrm>
        </p:spPr>
        <p:txBody>
          <a:bodyPr>
            <a:normAutofit/>
          </a:bodyPr>
          <a:lstStyle/>
          <a:p>
            <a:r>
              <a:rPr lang="en-US" sz="800" dirty="0"/>
              <a:t>.</a:t>
            </a:r>
            <a:endParaRPr lang="en-IN" sz="800" dirty="0"/>
          </a:p>
        </p:txBody>
      </p:sp>
      <p:sp>
        <p:nvSpPr>
          <p:cNvPr id="3" name="Content Placeholder 2"/>
          <p:cNvSpPr>
            <a:spLocks noGrp="1"/>
          </p:cNvSpPr>
          <p:nvPr>
            <p:ph idx="1"/>
          </p:nvPr>
        </p:nvSpPr>
        <p:spPr>
          <a:xfrm>
            <a:off x="1079268" y="825623"/>
            <a:ext cx="9905999" cy="5163805"/>
          </a:xfrm>
        </p:spPr>
        <p:txBody>
          <a:bodyPr>
            <a:normAutofit/>
          </a:bodyPr>
          <a:lstStyle/>
          <a:p>
            <a:pPr fontAlgn="base"/>
            <a:r>
              <a:rPr lang="en-US" b="1" dirty="0"/>
              <a:t>Web-based Deployment</a:t>
            </a:r>
            <a:r>
              <a:rPr lang="en-US" dirty="0"/>
              <a:t>:</a:t>
            </a:r>
          </a:p>
          <a:p>
            <a:pPr lvl="1" fontAlgn="base"/>
            <a:r>
              <a:rPr lang="en-US" b="1" dirty="0" err="1">
                <a:solidFill>
                  <a:schemeClr val="accent3">
                    <a:lumMod val="20000"/>
                    <a:lumOff val="80000"/>
                  </a:schemeClr>
                </a:solidFill>
              </a:rPr>
              <a:t>Streamlit</a:t>
            </a:r>
            <a:r>
              <a:rPr lang="en-US" dirty="0">
                <a:solidFill>
                  <a:schemeClr val="accent3">
                    <a:lumMod val="20000"/>
                    <a:lumOff val="80000"/>
                  </a:schemeClr>
                </a:solidFill>
              </a:rPr>
              <a:t>:</a:t>
            </a:r>
          </a:p>
          <a:p>
            <a:pPr lvl="2" fontAlgn="base"/>
            <a:r>
              <a:rPr lang="en-US" dirty="0" err="1">
                <a:solidFill>
                  <a:schemeClr val="accent3">
                    <a:lumMod val="20000"/>
                    <a:lumOff val="80000"/>
                  </a:schemeClr>
                </a:solidFill>
              </a:rPr>
              <a:t>Streamlit</a:t>
            </a:r>
            <a:r>
              <a:rPr lang="en-US" dirty="0">
                <a:solidFill>
                  <a:schemeClr val="accent3">
                    <a:lumMod val="20000"/>
                    <a:lumOff val="80000"/>
                  </a:schemeClr>
                </a:solidFill>
              </a:rPr>
              <a:t> provides an intuitive and interactive web-based interface for users to interact with the system.</a:t>
            </a:r>
          </a:p>
          <a:p>
            <a:pPr lvl="2" fontAlgn="base"/>
            <a:r>
              <a:rPr lang="en-US" dirty="0">
                <a:solidFill>
                  <a:schemeClr val="accent3">
                    <a:lumMod val="20000"/>
                    <a:lumOff val="80000"/>
                  </a:schemeClr>
                </a:solidFill>
              </a:rPr>
              <a:t>It enables live feed monitoring, media uploads, and customization of detection settings.</a:t>
            </a:r>
          </a:p>
          <a:p>
            <a:pPr fontAlgn="base"/>
            <a:r>
              <a:rPr lang="en-US" b="1"/>
              <a:t>Object </a:t>
            </a:r>
            <a:r>
              <a:rPr lang="en-US" b="1" dirty="0"/>
              <a:t>Detection Models</a:t>
            </a:r>
            <a:r>
              <a:rPr lang="en-US" dirty="0"/>
              <a:t>:</a:t>
            </a:r>
          </a:p>
          <a:p>
            <a:pPr lvl="1" fontAlgn="base"/>
            <a:r>
              <a:rPr lang="en-US" b="1" dirty="0">
                <a:solidFill>
                  <a:schemeClr val="accent3">
                    <a:lumMod val="20000"/>
                    <a:lumOff val="80000"/>
                  </a:schemeClr>
                </a:solidFill>
              </a:rPr>
              <a:t>YOLO (You Only Look Once)</a:t>
            </a:r>
            <a:r>
              <a:rPr lang="en-US" dirty="0">
                <a:solidFill>
                  <a:schemeClr val="accent3">
                    <a:lumMod val="20000"/>
                    <a:lumOff val="80000"/>
                  </a:schemeClr>
                </a:solidFill>
              </a:rPr>
              <a:t>:</a:t>
            </a:r>
          </a:p>
          <a:p>
            <a:pPr lvl="2" fontAlgn="base"/>
            <a:r>
              <a:rPr lang="en-US" dirty="0">
                <a:solidFill>
                  <a:schemeClr val="accent3">
                    <a:lumMod val="20000"/>
                    <a:lumOff val="80000"/>
                  </a:schemeClr>
                </a:solidFill>
              </a:rPr>
              <a:t>YOLO is the primary object detection model used for real-time identification of theft activities.</a:t>
            </a:r>
          </a:p>
          <a:p>
            <a:pPr lvl="1" fontAlgn="base"/>
            <a:r>
              <a:rPr lang="en-US" b="1" dirty="0" err="1">
                <a:solidFill>
                  <a:schemeClr val="accent3">
                    <a:lumMod val="20000"/>
                    <a:lumOff val="80000"/>
                  </a:schemeClr>
                </a:solidFill>
              </a:rPr>
              <a:t>GeminI</a:t>
            </a:r>
            <a:r>
              <a:rPr lang="en-US" dirty="0">
                <a:solidFill>
                  <a:schemeClr val="accent3">
                    <a:lumMod val="20000"/>
                    <a:lumOff val="80000"/>
                  </a:schemeClr>
                </a:solidFill>
              </a:rPr>
              <a:t>:</a:t>
            </a:r>
          </a:p>
          <a:p>
            <a:pPr lvl="2" fontAlgn="base"/>
            <a:r>
              <a:rPr lang="en-US" dirty="0">
                <a:solidFill>
                  <a:schemeClr val="accent3">
                    <a:lumMod val="20000"/>
                    <a:lumOff val="80000"/>
                  </a:schemeClr>
                </a:solidFill>
              </a:rPr>
              <a:t>Acts as a secondary layer for verifying YOLO’s outputs, reducing false </a:t>
            </a:r>
            <a:r>
              <a:rPr lang="en-IN" dirty="0">
                <a:solidFill>
                  <a:schemeClr val="accent3">
                    <a:lumMod val="20000"/>
                    <a:lumOff val="80000"/>
                  </a:schemeClr>
                </a:solidFill>
              </a:rPr>
              <a:t>positives and enhancing reliability.</a:t>
            </a:r>
          </a:p>
          <a:p>
            <a:pPr lvl="2" fontAlgn="base"/>
            <a:endParaRPr lang="en-US" dirty="0">
              <a:solidFill>
                <a:schemeClr val="accent3">
                  <a:lumMod val="20000"/>
                  <a:lumOff val="80000"/>
                </a:schemeClr>
              </a:solidFill>
            </a:endParaRPr>
          </a:p>
        </p:txBody>
      </p:sp>
    </p:spTree>
    <p:extLst>
      <p:ext uri="{BB962C8B-B14F-4D97-AF65-F5344CB8AC3E}">
        <p14:creationId xmlns:p14="http://schemas.microsoft.com/office/powerpoint/2010/main" val="4201878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4400" dirty="0" smtClean="0"/>
              <a:t>OUTPUT</a:t>
            </a:r>
            <a:endParaRPr lang="en-IN" sz="4400" dirty="0"/>
          </a:p>
        </p:txBody>
      </p:sp>
      <p:pic>
        <p:nvPicPr>
          <p:cNvPr id="4" name="Content Placeholder 3"/>
          <p:cNvPicPr>
            <a:picLocks noGrp="1"/>
          </p:cNvPicPr>
          <p:nvPr>
            <p:ph idx="1"/>
          </p:nvPr>
        </p:nvPicPr>
        <p:blipFill>
          <a:blip r:embed="rId2"/>
          <a:stretch>
            <a:fillRect/>
          </a:stretch>
        </p:blipFill>
        <p:spPr>
          <a:xfrm>
            <a:off x="2221831" y="2097088"/>
            <a:ext cx="8089409" cy="3694112"/>
          </a:xfrm>
          <a:prstGeom prst="rect">
            <a:avLst/>
          </a:prstGeom>
        </p:spPr>
      </p:pic>
    </p:spTree>
    <p:extLst>
      <p:ext uri="{BB962C8B-B14F-4D97-AF65-F5344CB8AC3E}">
        <p14:creationId xmlns:p14="http://schemas.microsoft.com/office/powerpoint/2010/main" val="3609179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OUTPUT</a:t>
            </a:r>
            <a:endParaRPr lang="en-IN" dirty="0"/>
          </a:p>
        </p:txBody>
      </p:sp>
      <p:pic>
        <p:nvPicPr>
          <p:cNvPr id="4" name="Content Placeholder 3"/>
          <p:cNvPicPr>
            <a:picLocks noGrp="1"/>
          </p:cNvPicPr>
          <p:nvPr>
            <p:ph idx="1"/>
          </p:nvPr>
        </p:nvPicPr>
        <p:blipFill>
          <a:blip r:embed="rId2"/>
          <a:stretch>
            <a:fillRect/>
          </a:stretch>
        </p:blipFill>
        <p:spPr>
          <a:xfrm>
            <a:off x="1724526" y="1917031"/>
            <a:ext cx="8911390" cy="4235115"/>
          </a:xfrm>
          <a:prstGeom prst="rect">
            <a:avLst/>
          </a:prstGeom>
        </p:spPr>
      </p:pic>
    </p:spTree>
    <p:extLst>
      <p:ext uri="{BB962C8B-B14F-4D97-AF65-F5344CB8AC3E}">
        <p14:creationId xmlns:p14="http://schemas.microsoft.com/office/powerpoint/2010/main" val="103024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a:t>
            </a:r>
            <a:endParaRPr lang="en-IN" dirty="0"/>
          </a:p>
        </p:txBody>
      </p:sp>
      <p:sp>
        <p:nvSpPr>
          <p:cNvPr id="3" name="Content Placeholder 2"/>
          <p:cNvSpPr>
            <a:spLocks noGrp="1"/>
          </p:cNvSpPr>
          <p:nvPr>
            <p:ph idx="1"/>
          </p:nvPr>
        </p:nvSpPr>
        <p:spPr/>
        <p:txBody>
          <a:bodyPr/>
          <a:lstStyle/>
          <a:p>
            <a:r>
              <a:rPr lang="en-US" dirty="0"/>
              <a:t>Software testing is the process of evaluating a software application to identify any errors, gaps, or missing requirements compared to the expected outcomes. </a:t>
            </a:r>
            <a:endParaRPr lang="en-US" dirty="0" smtClean="0"/>
          </a:p>
          <a:p>
            <a:r>
              <a:rPr lang="en-US" dirty="0"/>
              <a:t>The primary objective of the testing process is to ensure the accuracy, reliability, and robustness of the </a:t>
            </a:r>
            <a:r>
              <a:rPr lang="en-US" i="1" dirty="0" err="1"/>
              <a:t>ThiefGuard</a:t>
            </a:r>
            <a:r>
              <a:rPr lang="en-US" dirty="0"/>
              <a:t> system. </a:t>
            </a:r>
            <a:endParaRPr lang="en-IN" dirty="0"/>
          </a:p>
        </p:txBody>
      </p:sp>
    </p:spTree>
    <p:extLst>
      <p:ext uri="{BB962C8B-B14F-4D97-AF65-F5344CB8AC3E}">
        <p14:creationId xmlns:p14="http://schemas.microsoft.com/office/powerpoint/2010/main" val="3951466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25300051"/>
              </p:ext>
            </p:extLst>
          </p:nvPr>
        </p:nvGraphicFramePr>
        <p:xfrm>
          <a:off x="1277771" y="1912604"/>
          <a:ext cx="9906000" cy="4151308"/>
        </p:xfrm>
        <a:graphic>
          <a:graphicData uri="http://schemas.openxmlformats.org/drawingml/2006/table">
            <a:tbl>
              <a:tblPr firstRow="1" bandRow="1">
                <a:tableStyleId>{5C22544A-7EE6-4342-B048-85BDC9FD1C3A}</a:tableStyleId>
              </a:tblPr>
              <a:tblGrid>
                <a:gridCol w="1651000"/>
                <a:gridCol w="1651000"/>
                <a:gridCol w="1651000"/>
                <a:gridCol w="1651000"/>
                <a:gridCol w="1651000"/>
                <a:gridCol w="1651000"/>
              </a:tblGrid>
              <a:tr h="398220">
                <a:tc>
                  <a:txBody>
                    <a:bodyPr/>
                    <a:lstStyle/>
                    <a:p>
                      <a:pPr algn="ctr"/>
                      <a:r>
                        <a:rPr lang="en-IN" sz="1100" b="1" dirty="0">
                          <a:effectLst/>
                          <a:latin typeface="Calibri" panose="020F0502020204030204" pitchFamily="34" charset="0"/>
                          <a:ea typeface="Times New Roman" panose="02020603050405020304" pitchFamily="18" charset="0"/>
                          <a:cs typeface="Times New Roman" panose="02020603050405020304" pitchFamily="18" charset="0"/>
                        </a:rPr>
                        <a:t>Test ID</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n-IN" sz="1100" b="1">
                          <a:effectLst/>
                          <a:latin typeface="Calibri" panose="020F0502020204030204" pitchFamily="34" charset="0"/>
                          <a:ea typeface="Times New Roman" panose="02020603050405020304" pitchFamily="18" charset="0"/>
                          <a:cs typeface="Times New Roman" panose="02020603050405020304" pitchFamily="18" charset="0"/>
                        </a:rPr>
                        <a:t>Test Description</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n-IN" sz="1100" b="1">
                          <a:effectLst/>
                          <a:latin typeface="Calibri" panose="020F0502020204030204" pitchFamily="34" charset="0"/>
                          <a:ea typeface="Times New Roman" panose="02020603050405020304" pitchFamily="18" charset="0"/>
                          <a:cs typeface="Times New Roman" panose="02020603050405020304" pitchFamily="18" charset="0"/>
                        </a:rPr>
                        <a:t>Test Design</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n-IN" sz="1100" b="1">
                          <a:effectLst/>
                          <a:latin typeface="Calibri" panose="020F0502020204030204" pitchFamily="34" charset="0"/>
                          <a:ea typeface="Times New Roman" panose="02020603050405020304" pitchFamily="18" charset="0"/>
                          <a:cs typeface="Times New Roman" panose="02020603050405020304" pitchFamily="18" charset="0"/>
                        </a:rPr>
                        <a:t>Expected Output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n-IN" sz="1100" b="1">
                          <a:effectLst/>
                          <a:latin typeface="Calibri" panose="020F0502020204030204" pitchFamily="34" charset="0"/>
                          <a:ea typeface="Times New Roman" panose="02020603050405020304" pitchFamily="18" charset="0"/>
                          <a:cs typeface="Times New Roman" panose="02020603050405020304" pitchFamily="18" charset="0"/>
                        </a:rPr>
                        <a:t>Actual Output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n-IN" sz="1100" b="1">
                          <a:effectLst/>
                          <a:latin typeface="Calibri" panose="020F0502020204030204" pitchFamily="34" charset="0"/>
                          <a:ea typeface="Times New Roman" panose="02020603050405020304" pitchFamily="18" charset="0"/>
                          <a:cs typeface="Times New Roman" panose="02020603050405020304" pitchFamily="18" charset="0"/>
                        </a:rPr>
                        <a:t>Status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r>
              <a:tr h="540052">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1</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Verify user signup with OTP email verification.</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Enter signup details, system sends OTP to email, user enters OTP.</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User signed up successfully after valid OTP.</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User account created after OTP verification.</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540052">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2</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Validate login functionality.</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Enter valid/invalid login credentials.</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Valid credentials allow access; invalid shows error.</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Login worked correctly with valid input; error shown for invalid.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398220">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3</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Check if user details saved to dashboard post signup.</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Complete signup and view dashboard.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User's name and info appear on dashboard.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Dashboard updated with correct user details.</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540052">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4</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Test thief detection using image input.</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Upload an image containing a suspicious person.</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Thief detected if match found.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Thief detected in the image.</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398220">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5</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Test thief detection using video input.</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Upload a video clip with theft scenario.</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Thief detected in frame.</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Theif detected in the video.</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540052">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6</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Test thief detection via live camera feed.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Use webcam or CCTV input to monitor real-time activity.</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System detects thief in live feed.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Theif detected in the camera.</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398220">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7</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Validate location tracking after thief detection.</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Trigger thief detection and track via globe.</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Location is pinpointed with red line on 3D globe.</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Accurate location marked on globe.</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r h="398220">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         8</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Check alert email sent when thief is detected.</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Simulate theft and monitor email.</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Email alert with location sent to email.</a:t>
                      </a:r>
                    </a:p>
                  </a:txBody>
                  <a:tcPr marL="68580" marR="68580" marT="0" marB="0" anchor="ctr"/>
                </a:tc>
                <a:tc>
                  <a:txBody>
                    <a:bodyPr/>
                    <a:lstStyle/>
                    <a:p>
                      <a:pPr algn="just"/>
                      <a:r>
                        <a:rPr lang="en-IN" sz="1100">
                          <a:effectLst/>
                          <a:latin typeface="Calibri" panose="020F0502020204030204" pitchFamily="34" charset="0"/>
                          <a:ea typeface="Times New Roman" panose="02020603050405020304" pitchFamily="18" charset="0"/>
                          <a:cs typeface="Times New Roman" panose="02020603050405020304" pitchFamily="18" charset="0"/>
                        </a:rPr>
                        <a:t>Alert send successfully.</a:t>
                      </a:r>
                    </a:p>
                  </a:txBody>
                  <a:tcPr marL="68580" marR="68580" marT="0" marB="0" anchor="ctr"/>
                </a:tc>
                <a:tc>
                  <a:txBody>
                    <a:bodyPr/>
                    <a:lstStyle/>
                    <a:p>
                      <a:pPr algn="just"/>
                      <a:r>
                        <a:rPr lang="en-IN" sz="1100" dirty="0">
                          <a:effectLst/>
                          <a:latin typeface="Calibri" panose="020F0502020204030204" pitchFamily="34" charset="0"/>
                          <a:ea typeface="Times New Roman" panose="02020603050405020304" pitchFamily="18" charset="0"/>
                          <a:cs typeface="Times New Roman" panose="02020603050405020304" pitchFamily="18" charset="0"/>
                        </a:rPr>
                        <a:t>     Pass</a:t>
                      </a:r>
                    </a:p>
                  </a:txBody>
                  <a:tcPr marL="68580" marR="68580" marT="0" marB="0" anchor="ctr"/>
                </a:tc>
              </a:tr>
            </a:tbl>
          </a:graphicData>
        </a:graphic>
      </p:graphicFrame>
    </p:spTree>
    <p:extLst>
      <p:ext uri="{BB962C8B-B14F-4D97-AF65-F5344CB8AC3E}">
        <p14:creationId xmlns:p14="http://schemas.microsoft.com/office/powerpoint/2010/main" val="2233833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7875" y="875192"/>
            <a:ext cx="9905998" cy="1478570"/>
          </a:xfrm>
        </p:spPr>
        <p:txBody>
          <a:bodyPr/>
          <a:lstStyle/>
          <a:p>
            <a:r>
              <a:rPr lang="en-US" dirty="0" smtClean="0"/>
              <a:t>FUTURE ENHANCEMENTS</a:t>
            </a:r>
            <a:endParaRPr lang="en-IN" dirty="0"/>
          </a:p>
        </p:txBody>
      </p:sp>
      <p:sp>
        <p:nvSpPr>
          <p:cNvPr id="3" name="Content Placeholder 2"/>
          <p:cNvSpPr>
            <a:spLocks noGrp="1"/>
          </p:cNvSpPr>
          <p:nvPr>
            <p:ph idx="1"/>
          </p:nvPr>
        </p:nvSpPr>
        <p:spPr>
          <a:xfrm>
            <a:off x="1317875" y="2538245"/>
            <a:ext cx="9905999" cy="3541714"/>
          </a:xfrm>
        </p:spPr>
        <p:txBody>
          <a:bodyPr/>
          <a:lstStyle/>
          <a:p>
            <a:r>
              <a:rPr lang="en-US" dirty="0"/>
              <a:t>Mobile App </a:t>
            </a:r>
            <a:r>
              <a:rPr lang="en-US" dirty="0" smtClean="0"/>
              <a:t>Deployment</a:t>
            </a:r>
          </a:p>
          <a:p>
            <a:r>
              <a:rPr lang="en-US" dirty="0"/>
              <a:t>Night Vision and Low-light </a:t>
            </a:r>
            <a:r>
              <a:rPr lang="en-US" dirty="0" smtClean="0"/>
              <a:t>Enhancement</a:t>
            </a:r>
          </a:p>
          <a:p>
            <a:r>
              <a:rPr lang="en-US" dirty="0"/>
              <a:t>Real-time Integration with Police or Emergency </a:t>
            </a:r>
            <a:r>
              <a:rPr lang="en-US" dirty="0" smtClean="0"/>
              <a:t>Services</a:t>
            </a:r>
          </a:p>
          <a:p>
            <a:r>
              <a:rPr lang="en-US" dirty="0"/>
              <a:t>Multilingual Voice Alerts</a:t>
            </a:r>
            <a:endParaRPr lang="en-IN" dirty="0"/>
          </a:p>
        </p:txBody>
      </p:sp>
    </p:spTree>
    <p:extLst>
      <p:ext uri="{BB962C8B-B14F-4D97-AF65-F5344CB8AC3E}">
        <p14:creationId xmlns:p14="http://schemas.microsoft.com/office/powerpoint/2010/main" val="1539852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IN" dirty="0">
                <a:latin typeface="Rockwell" panose="02060603020205020403" pitchFamily="18" charset="0"/>
              </a:rPr>
              <a:t>CONCLUSION</a:t>
            </a:r>
          </a:p>
        </p:txBody>
      </p:sp>
      <p:sp>
        <p:nvSpPr>
          <p:cNvPr id="3" name="Content Placeholder 2"/>
          <p:cNvSpPr>
            <a:spLocks noGrp="1"/>
          </p:cNvSpPr>
          <p:nvPr>
            <p:ph idx="1"/>
          </p:nvPr>
        </p:nvSpPr>
        <p:spPr>
          <a:xfrm>
            <a:off x="1256822" y="1983157"/>
            <a:ext cx="9905999" cy="3541714"/>
          </a:xfrm>
        </p:spPr>
        <p:txBody>
          <a:bodyPr>
            <a:normAutofit fontScale="92500" lnSpcReduction="20000"/>
          </a:bodyPr>
          <a:lstStyle/>
          <a:p>
            <a:pPr fontAlgn="base"/>
            <a:r>
              <a:rPr lang="en-US" dirty="0" err="1"/>
              <a:t>ThiefGuard</a:t>
            </a:r>
            <a:r>
              <a:rPr lang="en-US" dirty="0"/>
              <a:t> provides a robust and efficient solution for real-time theft detection by integrating advanced deep learning models like YOLO and </a:t>
            </a:r>
            <a:r>
              <a:rPr lang="en-US" dirty="0" err="1"/>
              <a:t>GeminI</a:t>
            </a:r>
            <a:r>
              <a:rPr lang="en-US" dirty="0"/>
              <a:t>.</a:t>
            </a:r>
          </a:p>
          <a:p>
            <a:pPr fontAlgn="base"/>
            <a:r>
              <a:rPr lang="en-US" dirty="0"/>
              <a:t>The system addresses the limitations of traditional surveillance methods by offering high accuracy, reduced false positives, and real-time alerts.</a:t>
            </a:r>
          </a:p>
          <a:p>
            <a:pPr fontAlgn="base"/>
            <a:r>
              <a:rPr lang="en-US" dirty="0"/>
              <a:t>Its support for both image and video inputs ensures versatility, while the </a:t>
            </a:r>
            <a:r>
              <a:rPr lang="en-US" dirty="0" err="1"/>
              <a:t>Streamlit</a:t>
            </a:r>
            <a:r>
              <a:rPr lang="en-US" dirty="0"/>
              <a:t>-based application enhances accessibility and user interaction.</a:t>
            </a:r>
          </a:p>
          <a:p>
            <a:pPr fontAlgn="base"/>
            <a:r>
              <a:rPr lang="en-US" dirty="0"/>
              <a:t>By leveraging cutting-edge technologies and a scalable architecture, </a:t>
            </a:r>
            <a:r>
              <a:rPr lang="en-US" dirty="0" err="1"/>
              <a:t>ThiefGuard</a:t>
            </a:r>
            <a:r>
              <a:rPr lang="en-US" dirty="0"/>
              <a:t> sets a benchmark for modern theft prevention systems, ensuring timely and reliable security interventions.</a:t>
            </a:r>
          </a:p>
        </p:txBody>
      </p:sp>
    </p:spTree>
    <p:extLst>
      <p:ext uri="{BB962C8B-B14F-4D97-AF65-F5344CB8AC3E}">
        <p14:creationId xmlns:p14="http://schemas.microsoft.com/office/powerpoint/2010/main" val="107487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7700" y="2432481"/>
            <a:ext cx="7936637" cy="1107996"/>
          </a:xfrm>
          <a:prstGeom prst="rect">
            <a:avLst/>
          </a:prstGeom>
          <a:noFill/>
        </p:spPr>
        <p:txBody>
          <a:bodyPr wrap="square" rtlCol="0">
            <a:spAutoFit/>
          </a:bodyPr>
          <a:lstStyle/>
          <a:p>
            <a:r>
              <a:rPr lang="en-US" sz="6600" dirty="0"/>
              <a:t>THANK YOU</a:t>
            </a:r>
            <a:endParaRPr lang="en-IN" sz="6600" dirty="0"/>
          </a:p>
        </p:txBody>
      </p:sp>
    </p:spTree>
    <p:extLst>
      <p:ext uri="{BB962C8B-B14F-4D97-AF65-F5344CB8AC3E}">
        <p14:creationId xmlns:p14="http://schemas.microsoft.com/office/powerpoint/2010/main" val="18945318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7866CFD-F94E-4AE5-ACEA-86FEC0F48A10}">
  <ds:schemaRefs>
    <ds:schemaRef ds:uri="16c05727-aa75-4e4a-9b5f-8a80a1165891"/>
    <ds:schemaRef ds:uri="http://purl.org/dc/elements/1.1/"/>
    <ds:schemaRef ds:uri="http://purl.org/dc/dcmitype/"/>
    <ds:schemaRef ds:uri="http://schemas.microsoft.com/office/infopath/2007/PartnerControls"/>
    <ds:schemaRef ds:uri="http://schemas.microsoft.com/office/2006/documentManagement/types"/>
    <ds:schemaRef ds:uri="http://www.w3.org/XML/1998/namespace"/>
    <ds:schemaRef ds:uri="http://purl.org/dc/terms/"/>
    <ds:schemaRef ds:uri="http://schemas.openxmlformats.org/package/2006/metadata/core-properties"/>
    <ds:schemaRef ds:uri="71af3243-3dd4-4a8d-8c0d-dd76da1f02a5"/>
    <ds:schemaRef ds:uri="http://schemas.microsoft.com/office/2006/metadata/properties"/>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0</TotalTime>
  <Words>1733</Words>
  <Application>Microsoft Office PowerPoint</Application>
  <PresentationFormat>Widescreen</PresentationFormat>
  <Paragraphs>234</Paragraphs>
  <Slides>32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Malgun Gothic Semilight</vt:lpstr>
      <vt:lpstr>Arial</vt:lpstr>
      <vt:lpstr>Calibri</vt:lpstr>
      <vt:lpstr>Ro\</vt:lpstr>
      <vt:lpstr>Rockwell</vt:lpstr>
      <vt:lpstr>Tahoma</vt:lpstr>
      <vt:lpstr>Times New Roman</vt:lpstr>
      <vt:lpstr>Trebuchet MS</vt:lpstr>
      <vt:lpstr>Tw Cen MT</vt:lpstr>
      <vt:lpstr>Wingdings</vt:lpstr>
      <vt:lpstr>Circuit</vt:lpstr>
      <vt:lpstr>ThiefGuard: Real-time Theft Detection System Integrating YOLO and GeminI for Enhanced Accuracy and Rapid Response   </vt:lpstr>
      <vt:lpstr>List OF CONTENTS</vt:lpstr>
      <vt:lpstr>  ABSTRACT</vt:lpstr>
      <vt:lpstr>INTRODUCTION</vt:lpstr>
      <vt:lpstr>Existing system</vt:lpstr>
      <vt:lpstr>Disadvantages of Existing System</vt:lpstr>
      <vt:lpstr>Proposed System</vt:lpstr>
      <vt:lpstr>Advantages of Proposed System</vt:lpstr>
      <vt:lpstr>Literature Survey</vt:lpstr>
      <vt:lpstr>.</vt:lpstr>
      <vt:lpstr>REQUIREMENTS</vt:lpstr>
      <vt:lpstr>SYSTEM ARCHITECTURE</vt:lpstr>
      <vt:lpstr>SYSTEM MODULE</vt:lpstr>
      <vt:lpstr>CLASS DIAGRAM</vt:lpstr>
      <vt:lpstr>USE CASE DIAGRAM</vt:lpstr>
      <vt:lpstr>OBJECT DIAGRAM</vt:lpstr>
      <vt:lpstr>STATE CHART DIAGRAM</vt:lpstr>
      <vt:lpstr>ACTIVITY  DIAGRAM</vt:lpstr>
      <vt:lpstr>SEQUENCE DIAGRAM</vt:lpstr>
      <vt:lpstr>COLLABORATION DIAGRAM</vt:lpstr>
      <vt:lpstr>COMPONENT DIAGRAM</vt:lpstr>
      <vt:lpstr>DEPLOYMENT DIAGRAM</vt:lpstr>
      <vt:lpstr>ALGORITHM</vt:lpstr>
      <vt:lpstr>.</vt:lpstr>
      <vt:lpstr>.</vt:lpstr>
      <vt:lpstr>                               OUTPUT</vt:lpstr>
      <vt:lpstr>                                 OUTPUT</vt:lpstr>
      <vt:lpstr>TESTING</vt:lpstr>
      <vt:lpstr>TEST CASES</vt:lpstr>
      <vt:lpstr>FUTURE ENHANCEMENTS</vt:lpstr>
      <vt:lpstr>  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2025-03-03T14:25:18Z</dcterms:created>
  <dcterms:modified xsi:type="dcterms:W3CDTF">2025-06-04T04:48:17Z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